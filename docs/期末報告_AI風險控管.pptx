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>
    <a:defPPr>
      <a:defRPr lang="zh-TW">
        <a:latin typeface="Microsoft JhengHei"/>
        <a:ea typeface="Microsoft JhengHei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b="1">
          <a:latin typeface="Microsoft JhengHei"/>
          <a:ea typeface="Microsoft JhengHei"/>
        </a:defRPr>
      </a:lvl1pPr>
    </p:titleStyle>
    <p:bodyStyle>
      <a:lvl1pPr>
        <a:defRPr sz="2400">
          <a:latin typeface="Microsoft JhengHei"/>
          <a:ea typeface="Microsoft JhengHei"/>
        </a:defRPr>
      </a:lvl1pPr>
    </p:bodyStyle>
    <p:otherStyle>
      <a:lvl1pPr>
        <a:defRPr sz="1800">
          <a:latin typeface="Microsoft JhengHei"/>
          <a:ea typeface="Microsoft JhengHe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38200" y="838200"/>
            <a:ext cx="812800" cy="81280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38200" y="10668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2200" b="1">
                <a:solidFill>
                  <a:srgbClr val="0F766E"/>
                </a:solidFill>
                <a:latin typeface="Microsoft JhengHei"/>
                <a:ea typeface="Microsoft JhengHei"/>
              </a:rPr>
              <a:t>AI</a:t>
            </a:r>
            <a:endParaRPr lang="zh-TW" sz="2200"/>
          </a:p>
        </p:txBody>
      </p:sp>
      <p:sp>
        <p:nvSpPr>
          <p:cNvPr id="6" name="Shape 6"/>
          <p:cNvSpPr/>
          <p:nvPr/>
        </p:nvSpPr>
        <p:spPr>
          <a:xfrm>
            <a:off x="838200" y="2159000"/>
            <a:ext cx="3111500" cy="30480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65200" y="2222500"/>
            <a:ext cx="2857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 b="1">
                <a:solidFill>
                  <a:srgbClr val="0F766E"/>
                </a:solidFill>
                <a:latin typeface="Microsoft JhengHei"/>
                <a:ea typeface="Microsoft JhengHei"/>
              </a:rPr>
              <a:t>期末報告｜室內設計公司流程改善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838200" y="26416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3600" b="1">
                <a:solidFill>
                  <a:srgbClr val="FFFFFF"/>
                </a:solidFill>
                <a:latin typeface="Microsoft JhengHei"/>
                <a:ea typeface="Microsoft JhengHei"/>
              </a:rPr>
              <a:t>AI風險控管</a:t>
            </a:r>
            <a:endParaRPr lang="zh-TW" sz="3600"/>
          </a:p>
        </p:txBody>
      </p:sp>
      <p:sp>
        <p:nvSpPr>
          <p:cNvPr id="9" name="TextBox 9"/>
          <p:cNvSpPr txBox="1"/>
          <p:nvPr/>
        </p:nvSpPr>
        <p:spPr>
          <a:xfrm>
            <a:off x="838200" y="3403600"/>
            <a:ext cx="876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800" b="1">
                <a:solidFill>
                  <a:srgbClr val="DDF7F3"/>
                </a:solidFill>
                <a:latin typeface="Microsoft JhengHei"/>
                <a:ea typeface="Microsoft JhengHei"/>
              </a:rPr>
              <a:t>AI案件秘書：從接案到交屋的風險提醒與待辦管理</a:t>
            </a:r>
            <a:endParaRPr lang="zh-TW" sz="1800"/>
          </a:p>
        </p:txBody>
      </p:sp>
      <p:sp>
        <p:nvSpPr>
          <p:cNvPr id="10" name="TextBox 10"/>
          <p:cNvSpPr txBox="1"/>
          <p:nvPr/>
        </p:nvSpPr>
        <p:spPr>
          <a:xfrm>
            <a:off x="838200" y="4140200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ECFDF5"/>
                </a:solidFill>
                <a:latin typeface="Microsoft JhengHei"/>
                <a:ea typeface="Microsoft JhengHei"/>
              </a:rPr>
              <a:t>報告重點：公司流程中最需要 AI 協助的地方、解決方式、使用心得與是否有解決問題。</a:t>
            </a:r>
            <a:endParaRPr lang="zh-TW" sz="1300"/>
          </a:p>
        </p:txBody>
      </p:sp>
      <p:sp>
        <p:nvSpPr>
          <p:cNvPr id="11" name="Shape 11"/>
          <p:cNvSpPr/>
          <p:nvPr/>
        </p:nvSpPr>
        <p:spPr>
          <a:xfrm>
            <a:off x="8128000" y="4394200"/>
            <a:ext cx="2984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Shape 12"/>
          <p:cNvSpPr/>
          <p:nvPr/>
        </p:nvSpPr>
        <p:spPr>
          <a:xfrm>
            <a:off x="8128000" y="4394200"/>
            <a:ext cx="76200" cy="116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56600" y="4597400"/>
            <a:ext cx="2603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學生資訊</a:t>
            </a:r>
            <a:endParaRPr lang="zh-TW" sz="1400"/>
          </a:p>
        </p:txBody>
      </p:sp>
      <p:sp>
        <p:nvSpPr>
          <p:cNvPr id="14" name="TextBox 14"/>
          <p:cNvSpPr txBox="1"/>
          <p:nvPr/>
        </p:nvSpPr>
        <p:spPr>
          <a:xfrm>
            <a:off x="8356600" y="4978400"/>
            <a:ext cx="25781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姓名：__________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課程：__________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日期：2026/06/26</a:t>
            </a:r>
            <a:endParaRPr lang="zh-TW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Report Focus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老師題目的回應方向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依照公司從接案到交屋的實際流程，找出最需要 AI 協助的環節。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2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889000" y="1651000"/>
            <a:ext cx="3111500" cy="330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89000" y="1651000"/>
            <a:ext cx="76200" cy="3302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17600" y="1854200"/>
            <a:ext cx="2730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我選的主題</a:t>
            </a:r>
            <a:endParaRPr lang="zh-TW" sz="1400"/>
          </a:p>
        </p:txBody>
      </p:sp>
      <p:sp>
        <p:nvSpPr>
          <p:cNvPr id="12" name="TextBox 12"/>
          <p:cNvSpPr txBox="1"/>
          <p:nvPr/>
        </p:nvSpPr>
        <p:spPr>
          <a:xfrm>
            <a:off x="1117600" y="2235200"/>
            <a:ext cx="2705100" cy="256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AI風險控管</a:t>
            </a:r>
            <a:endParaRPr lang="zh-TW" sz="1050"/>
          </a:p>
          <a:p>
            <a:pPr algn="l"/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把 LINE 對話、案件待辦、工期、里程碑和風險提醒整合起來，讓問題在變嚴重前被看見。</a:t>
            </a:r>
            <a:endParaRPr lang="zh-TW" sz="1050"/>
          </a:p>
        </p:txBody>
      </p:sp>
      <p:sp>
        <p:nvSpPr>
          <p:cNvPr id="13" name="Shape 13"/>
          <p:cNvSpPr/>
          <p:nvPr/>
        </p:nvSpPr>
        <p:spPr>
          <a:xfrm>
            <a:off x="4533900" y="1651000"/>
            <a:ext cx="3111500" cy="330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33900" y="1651000"/>
            <a:ext cx="76200" cy="330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62500" y="1854200"/>
            <a:ext cx="2730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報告邏輯</a:t>
            </a:r>
            <a:endParaRPr lang="zh-TW" sz="1400"/>
          </a:p>
        </p:txBody>
      </p:sp>
      <p:sp>
        <p:nvSpPr>
          <p:cNvPr id="16" name="TextBox 16"/>
          <p:cNvSpPr txBox="1"/>
          <p:nvPr/>
        </p:nvSpPr>
        <p:spPr>
          <a:xfrm>
            <a:off x="4762500" y="2235200"/>
            <a:ext cx="2705100" cy="256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1. 公司流程與痛點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2. 哪些地方最需要 AI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3. 我做的解決方式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4. 使用心得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5. 是否有解決問題</a:t>
            </a:r>
            <a:endParaRPr lang="zh-TW" sz="1050"/>
          </a:p>
        </p:txBody>
      </p:sp>
      <p:sp>
        <p:nvSpPr>
          <p:cNvPr id="17" name="Shape 17"/>
          <p:cNvSpPr/>
          <p:nvPr/>
        </p:nvSpPr>
        <p:spPr>
          <a:xfrm>
            <a:off x="8178800" y="1651000"/>
            <a:ext cx="3111500" cy="330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78800" y="1651000"/>
            <a:ext cx="76200" cy="330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07400" y="1854200"/>
            <a:ext cx="2730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專案定位</a:t>
            </a:r>
            <a:endParaRPr lang="zh-TW" sz="1400"/>
          </a:p>
        </p:txBody>
      </p:sp>
      <p:sp>
        <p:nvSpPr>
          <p:cNvPr id="20" name="TextBox 20"/>
          <p:cNvSpPr txBox="1"/>
          <p:nvPr/>
        </p:nvSpPr>
        <p:spPr>
          <a:xfrm>
            <a:off x="8407400" y="2235200"/>
            <a:ext cx="2705100" cy="256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不是取代員工。</a:t>
            </a:r>
            <a:endParaRPr lang="zh-TW" sz="1050"/>
          </a:p>
          <a:p>
            <a:pPr algn="l"/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先幫忙發現風險、整理待辦、發提醒；最後仍由人審核與決定。</a:t>
            </a:r>
            <a:endParaRPr lang="zh-TW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Company Workflow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公司從接案到交屋的流程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室內設計 / 工程案件的問題通常不是單一功能，而是跨階段累積。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3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7366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36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接案</a:t>
            </a:r>
            <a:endParaRPr lang="zh-TW" sz="1200"/>
          </a:p>
        </p:txBody>
      </p:sp>
      <p:sp>
        <p:nvSpPr>
          <p:cNvPr id="11" name="TextBox 11"/>
          <p:cNvSpPr txBox="1"/>
          <p:nvPr/>
        </p:nvSpPr>
        <p:spPr>
          <a:xfrm>
            <a:off x="8636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需求洽談</a:t>
            </a:r>
            <a:endParaRPr lang="zh-TW" sz="850"/>
          </a:p>
        </p:txBody>
      </p:sp>
      <p:sp>
        <p:nvSpPr>
          <p:cNvPr id="12" name="TextBox 12"/>
          <p:cNvSpPr txBox="1"/>
          <p:nvPr/>
        </p:nvSpPr>
        <p:spPr>
          <a:xfrm>
            <a:off x="2311400" y="20574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3" name="Shape 13"/>
          <p:cNvSpPr/>
          <p:nvPr/>
        </p:nvSpPr>
        <p:spPr>
          <a:xfrm>
            <a:off x="25654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6924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丈量</a:t>
            </a:r>
            <a:endParaRPr lang="zh-TW" sz="1200"/>
          </a:p>
        </p:txBody>
      </p:sp>
      <p:sp>
        <p:nvSpPr>
          <p:cNvPr id="15" name="TextBox 15"/>
          <p:cNvSpPr txBox="1"/>
          <p:nvPr/>
        </p:nvSpPr>
        <p:spPr>
          <a:xfrm>
            <a:off x="26924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現場資訊</a:t>
            </a:r>
            <a:endParaRPr lang="zh-TW" sz="850"/>
          </a:p>
        </p:txBody>
      </p:sp>
      <p:sp>
        <p:nvSpPr>
          <p:cNvPr id="16" name="TextBox 16"/>
          <p:cNvSpPr txBox="1"/>
          <p:nvPr/>
        </p:nvSpPr>
        <p:spPr>
          <a:xfrm>
            <a:off x="4140200" y="20574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7" name="Shape 17"/>
          <p:cNvSpPr/>
          <p:nvPr/>
        </p:nvSpPr>
        <p:spPr>
          <a:xfrm>
            <a:off x="43942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5212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設計</a:t>
            </a:r>
            <a:endParaRPr lang="zh-TW" sz="1200"/>
          </a:p>
        </p:txBody>
      </p:sp>
      <p:sp>
        <p:nvSpPr>
          <p:cNvPr id="19" name="TextBox 19"/>
          <p:cNvSpPr txBox="1"/>
          <p:nvPr/>
        </p:nvSpPr>
        <p:spPr>
          <a:xfrm>
            <a:off x="45212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提案修改</a:t>
            </a:r>
            <a:endParaRPr lang="zh-TW" sz="850"/>
          </a:p>
        </p:txBody>
      </p:sp>
      <p:sp>
        <p:nvSpPr>
          <p:cNvPr id="20" name="TextBox 20"/>
          <p:cNvSpPr txBox="1"/>
          <p:nvPr/>
        </p:nvSpPr>
        <p:spPr>
          <a:xfrm>
            <a:off x="5969000" y="20574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21" name="Shape 21"/>
          <p:cNvSpPr/>
          <p:nvPr/>
        </p:nvSpPr>
        <p:spPr>
          <a:xfrm>
            <a:off x="62230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3500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報價簽約</a:t>
            </a:r>
            <a:endParaRPr lang="zh-TW" sz="1200"/>
          </a:p>
        </p:txBody>
      </p:sp>
      <p:sp>
        <p:nvSpPr>
          <p:cNvPr id="23" name="TextBox 23"/>
          <p:cNvSpPr txBox="1"/>
          <p:nvPr/>
        </p:nvSpPr>
        <p:spPr>
          <a:xfrm>
            <a:off x="63500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預算確認</a:t>
            </a:r>
            <a:endParaRPr lang="zh-TW" sz="850"/>
          </a:p>
        </p:txBody>
      </p:sp>
      <p:sp>
        <p:nvSpPr>
          <p:cNvPr id="24" name="TextBox 24"/>
          <p:cNvSpPr txBox="1"/>
          <p:nvPr/>
        </p:nvSpPr>
        <p:spPr>
          <a:xfrm>
            <a:off x="7797800" y="20574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25" name="Shape 25"/>
          <p:cNvSpPr/>
          <p:nvPr/>
        </p:nvSpPr>
        <p:spPr>
          <a:xfrm>
            <a:off x="80518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1788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施工</a:t>
            </a:r>
            <a:endParaRPr lang="zh-TW" sz="1200"/>
          </a:p>
        </p:txBody>
      </p:sp>
      <p:sp>
        <p:nvSpPr>
          <p:cNvPr id="27" name="TextBox 27"/>
          <p:cNvSpPr txBox="1"/>
          <p:nvPr/>
        </p:nvSpPr>
        <p:spPr>
          <a:xfrm>
            <a:off x="81788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工期監工</a:t>
            </a:r>
            <a:endParaRPr lang="zh-TW" sz="850"/>
          </a:p>
        </p:txBody>
      </p:sp>
      <p:sp>
        <p:nvSpPr>
          <p:cNvPr id="28" name="TextBox 28"/>
          <p:cNvSpPr txBox="1"/>
          <p:nvPr/>
        </p:nvSpPr>
        <p:spPr>
          <a:xfrm>
            <a:off x="9626600" y="20574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29" name="Shape 29"/>
          <p:cNvSpPr/>
          <p:nvPr/>
        </p:nvSpPr>
        <p:spPr>
          <a:xfrm>
            <a:off x="9880600" y="1803400"/>
            <a:ext cx="15494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007600" y="19685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驗收交屋</a:t>
            </a:r>
            <a:endParaRPr lang="zh-TW" sz="1200"/>
          </a:p>
        </p:txBody>
      </p:sp>
      <p:sp>
        <p:nvSpPr>
          <p:cNvPr id="31" name="TextBox 31"/>
          <p:cNvSpPr txBox="1"/>
          <p:nvPr/>
        </p:nvSpPr>
        <p:spPr>
          <a:xfrm>
            <a:off x="10007600" y="2260600"/>
            <a:ext cx="1295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缺失尾款</a:t>
            </a:r>
            <a:endParaRPr lang="zh-TW" sz="850"/>
          </a:p>
        </p:txBody>
      </p:sp>
      <p:sp>
        <p:nvSpPr>
          <p:cNvPr id="32" name="Shape 32"/>
          <p:cNvSpPr/>
          <p:nvPr/>
        </p:nvSpPr>
        <p:spPr>
          <a:xfrm>
            <a:off x="965200" y="3429000"/>
            <a:ext cx="3175000" cy="180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Shape 33"/>
          <p:cNvSpPr/>
          <p:nvPr/>
        </p:nvSpPr>
        <p:spPr>
          <a:xfrm>
            <a:off x="965200" y="3429000"/>
            <a:ext cx="76200" cy="1803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93800" y="36322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接案與設計階段</a:t>
            </a:r>
            <a:endParaRPr lang="zh-TW" sz="1400"/>
          </a:p>
        </p:txBody>
      </p:sp>
      <p:sp>
        <p:nvSpPr>
          <p:cNvPr id="35" name="TextBox 35"/>
          <p:cNvSpPr txBox="1"/>
          <p:nvPr/>
        </p:nvSpPr>
        <p:spPr>
          <a:xfrm>
            <a:off x="1193800" y="4013200"/>
            <a:ext cx="276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需求常散在 LINE、電話與現場紀錄。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變更太多時，容易忘記誰答應了什麼。</a:t>
            </a:r>
            <a:endParaRPr lang="zh-TW" sz="1050"/>
          </a:p>
        </p:txBody>
      </p:sp>
      <p:sp>
        <p:nvSpPr>
          <p:cNvPr id="36" name="Shape 36"/>
          <p:cNvSpPr/>
          <p:nvPr/>
        </p:nvSpPr>
        <p:spPr>
          <a:xfrm>
            <a:off x="4495800" y="3429000"/>
            <a:ext cx="3175000" cy="180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7" name="Shape 37"/>
          <p:cNvSpPr/>
          <p:nvPr/>
        </p:nvSpPr>
        <p:spPr>
          <a:xfrm>
            <a:off x="4495800" y="3429000"/>
            <a:ext cx="76200" cy="18034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724400" y="36322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施工階段</a:t>
            </a:r>
            <a:endParaRPr lang="zh-TW" sz="1400"/>
          </a:p>
        </p:txBody>
      </p:sp>
      <p:sp>
        <p:nvSpPr>
          <p:cNvPr id="39" name="TextBox 39"/>
          <p:cNvSpPr txBox="1"/>
          <p:nvPr/>
        </p:nvSpPr>
        <p:spPr>
          <a:xfrm>
            <a:off x="4724400" y="4013200"/>
            <a:ext cx="276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工班、材料、進場日期與客戶訊息同時發生。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少一個提醒，就可能造成延誤。</a:t>
            </a:r>
            <a:endParaRPr lang="zh-TW" sz="1050"/>
          </a:p>
        </p:txBody>
      </p:sp>
      <p:sp>
        <p:nvSpPr>
          <p:cNvPr id="40" name="Shape 40"/>
          <p:cNvSpPr/>
          <p:nvPr/>
        </p:nvSpPr>
        <p:spPr>
          <a:xfrm>
            <a:off x="8026400" y="3429000"/>
            <a:ext cx="3175000" cy="180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1" name="Shape 41"/>
          <p:cNvSpPr/>
          <p:nvPr/>
        </p:nvSpPr>
        <p:spPr>
          <a:xfrm>
            <a:off x="8026400" y="3429000"/>
            <a:ext cx="76200" cy="18034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55000" y="36322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驗收與交屋階段</a:t>
            </a:r>
            <a:endParaRPr lang="zh-TW" sz="1400"/>
          </a:p>
        </p:txBody>
      </p:sp>
      <p:sp>
        <p:nvSpPr>
          <p:cNvPr id="43" name="TextBox 43"/>
          <p:cNvSpPr txBox="1"/>
          <p:nvPr/>
        </p:nvSpPr>
        <p:spPr>
          <a:xfrm>
            <a:off x="8255000" y="4013200"/>
            <a:ext cx="276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缺失修補、尾款、發票、交屋確認都很容易卡住。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這些通常也是客訴風險最高的地方。</a:t>
            </a:r>
            <a:endParaRPr lang="zh-TW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AI Opportunity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流程中最需要 AI 幫忙的部分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AI 最適合處理大量訊息、提醒、分類與風險預警。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4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914400" y="1600200"/>
            <a:ext cx="19050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16000" y="1701800"/>
            <a:ext cx="1701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流程階段</a:t>
            </a:r>
            <a:endParaRPr lang="zh-TW" sz="950"/>
          </a:p>
        </p:txBody>
      </p:sp>
      <p:sp>
        <p:nvSpPr>
          <p:cNvPr id="11" name="Shape 11"/>
          <p:cNvSpPr/>
          <p:nvPr/>
        </p:nvSpPr>
        <p:spPr>
          <a:xfrm>
            <a:off x="2819400" y="1600200"/>
            <a:ext cx="38354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921000" y="1701800"/>
            <a:ext cx="3632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常見問題</a:t>
            </a:r>
            <a:endParaRPr lang="zh-TW" sz="950"/>
          </a:p>
        </p:txBody>
      </p:sp>
      <p:sp>
        <p:nvSpPr>
          <p:cNvPr id="13" name="Shape 13"/>
          <p:cNvSpPr/>
          <p:nvPr/>
        </p:nvSpPr>
        <p:spPr>
          <a:xfrm>
            <a:off x="6654800" y="1600200"/>
            <a:ext cx="46228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56400" y="1701800"/>
            <a:ext cx="4419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AI 可以協助</a:t>
            </a:r>
            <a:endParaRPr lang="zh-TW" sz="950"/>
          </a:p>
        </p:txBody>
      </p:sp>
      <p:sp>
        <p:nvSpPr>
          <p:cNvPr id="15" name="Shape 15"/>
          <p:cNvSpPr/>
          <p:nvPr/>
        </p:nvSpPr>
        <p:spPr>
          <a:xfrm>
            <a:off x="914400" y="2082800"/>
            <a:ext cx="19050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16000" y="2184400"/>
            <a:ext cx="1701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接案 / 需求</a:t>
            </a:r>
            <a:endParaRPr lang="zh-TW" sz="950"/>
          </a:p>
        </p:txBody>
      </p:sp>
      <p:sp>
        <p:nvSpPr>
          <p:cNvPr id="17" name="Shape 17"/>
          <p:cNvSpPr/>
          <p:nvPr/>
        </p:nvSpPr>
        <p:spPr>
          <a:xfrm>
            <a:off x="2819400" y="2082800"/>
            <a:ext cx="38354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21000" y="2184400"/>
            <a:ext cx="36322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客戶需求分散在對話中</a:t>
            </a:r>
            <a:endParaRPr lang="zh-TW" sz="950"/>
          </a:p>
        </p:txBody>
      </p:sp>
      <p:sp>
        <p:nvSpPr>
          <p:cNvPr id="19" name="Shape 19"/>
          <p:cNvSpPr/>
          <p:nvPr/>
        </p:nvSpPr>
        <p:spPr>
          <a:xfrm>
            <a:off x="6654800" y="2082800"/>
            <a:ext cx="46228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756400" y="2184400"/>
            <a:ext cx="44196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整理重點、標記待確認事項</a:t>
            </a:r>
            <a:endParaRPr lang="zh-TW" sz="950"/>
          </a:p>
        </p:txBody>
      </p:sp>
      <p:sp>
        <p:nvSpPr>
          <p:cNvPr id="21" name="Shape 21"/>
          <p:cNvSpPr/>
          <p:nvPr/>
        </p:nvSpPr>
        <p:spPr>
          <a:xfrm>
            <a:off x="914400" y="2755900"/>
            <a:ext cx="19050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16000" y="2857500"/>
            <a:ext cx="1701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設計 / 變更</a:t>
            </a:r>
            <a:endParaRPr lang="zh-TW" sz="950"/>
          </a:p>
        </p:txBody>
      </p:sp>
      <p:sp>
        <p:nvSpPr>
          <p:cNvPr id="23" name="Shape 23"/>
          <p:cNvSpPr/>
          <p:nvPr/>
        </p:nvSpPr>
        <p:spPr>
          <a:xfrm>
            <a:off x="2819400" y="2755900"/>
            <a:ext cx="38354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921000" y="2857500"/>
            <a:ext cx="36322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尺寸、材質、預算反覆修改</a:t>
            </a:r>
            <a:endParaRPr lang="zh-TW" sz="950"/>
          </a:p>
        </p:txBody>
      </p:sp>
      <p:sp>
        <p:nvSpPr>
          <p:cNvPr id="25" name="Shape 25"/>
          <p:cNvSpPr/>
          <p:nvPr/>
        </p:nvSpPr>
        <p:spPr>
          <a:xfrm>
            <a:off x="6654800" y="2755900"/>
            <a:ext cx="46228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756400" y="2857500"/>
            <a:ext cx="44196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辨識變更內容，建立待審草稿</a:t>
            </a:r>
            <a:endParaRPr lang="zh-TW" sz="950"/>
          </a:p>
        </p:txBody>
      </p:sp>
      <p:sp>
        <p:nvSpPr>
          <p:cNvPr id="27" name="Shape 27"/>
          <p:cNvSpPr/>
          <p:nvPr/>
        </p:nvSpPr>
        <p:spPr>
          <a:xfrm>
            <a:off x="914400" y="3429000"/>
            <a:ext cx="19050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16000" y="3530600"/>
            <a:ext cx="1701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施工 / 工期</a:t>
            </a:r>
            <a:endParaRPr lang="zh-TW" sz="950"/>
          </a:p>
        </p:txBody>
      </p:sp>
      <p:sp>
        <p:nvSpPr>
          <p:cNvPr id="29" name="Shape 29"/>
          <p:cNvSpPr/>
          <p:nvPr/>
        </p:nvSpPr>
        <p:spPr>
          <a:xfrm>
            <a:off x="2819400" y="3429000"/>
            <a:ext cx="38354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2921000" y="3530600"/>
            <a:ext cx="36322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工種與日期交錯，容易漏追</a:t>
            </a:r>
            <a:endParaRPr lang="zh-TW" sz="950"/>
          </a:p>
        </p:txBody>
      </p:sp>
      <p:sp>
        <p:nvSpPr>
          <p:cNvPr id="31" name="Shape 31"/>
          <p:cNvSpPr/>
          <p:nvPr/>
        </p:nvSpPr>
        <p:spPr>
          <a:xfrm>
            <a:off x="6654800" y="3429000"/>
            <a:ext cx="4622800" cy="6731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756400" y="3530600"/>
            <a:ext cx="44196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提醒進場、逾期、關鍵節點</a:t>
            </a:r>
            <a:endParaRPr lang="zh-TW" sz="950"/>
          </a:p>
        </p:txBody>
      </p:sp>
      <p:sp>
        <p:nvSpPr>
          <p:cNvPr id="33" name="Shape 33"/>
          <p:cNvSpPr/>
          <p:nvPr/>
        </p:nvSpPr>
        <p:spPr>
          <a:xfrm>
            <a:off x="914400" y="4102100"/>
            <a:ext cx="19050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16000" y="4203700"/>
            <a:ext cx="1701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驗收 / 交屋</a:t>
            </a:r>
            <a:endParaRPr lang="zh-TW" sz="950"/>
          </a:p>
        </p:txBody>
      </p:sp>
      <p:sp>
        <p:nvSpPr>
          <p:cNvPr id="35" name="Shape 35"/>
          <p:cNvSpPr/>
          <p:nvPr/>
        </p:nvSpPr>
        <p:spPr>
          <a:xfrm>
            <a:off x="2819400" y="4102100"/>
            <a:ext cx="38354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2921000" y="4203700"/>
            <a:ext cx="36322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缺失修補、尾款、發票容易卡關</a:t>
            </a:r>
            <a:endParaRPr lang="zh-TW" sz="950"/>
          </a:p>
        </p:txBody>
      </p:sp>
      <p:sp>
        <p:nvSpPr>
          <p:cNvPr id="37" name="Shape 37"/>
          <p:cNvSpPr/>
          <p:nvPr/>
        </p:nvSpPr>
        <p:spPr>
          <a:xfrm>
            <a:off x="6654800" y="4102100"/>
            <a:ext cx="4622800" cy="6731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56400" y="4203700"/>
            <a:ext cx="44196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標記高風險，推送給負責人</a:t>
            </a:r>
            <a:endParaRPr lang="zh-TW" sz="950"/>
          </a:p>
        </p:txBody>
      </p:sp>
      <p:sp>
        <p:nvSpPr>
          <p:cNvPr id="39" name="Shape 39"/>
          <p:cNvSpPr/>
          <p:nvPr/>
        </p:nvSpPr>
        <p:spPr>
          <a:xfrm>
            <a:off x="1447800" y="5143500"/>
            <a:ext cx="9334500" cy="78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0" name="Shape 40"/>
          <p:cNvSpPr/>
          <p:nvPr/>
        </p:nvSpPr>
        <p:spPr>
          <a:xfrm>
            <a:off x="1447800" y="5143500"/>
            <a:ext cx="76200" cy="7874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676400" y="5346700"/>
            <a:ext cx="8953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我的判斷</a:t>
            </a:r>
            <a:endParaRPr lang="zh-TW" sz="1400"/>
          </a:p>
        </p:txBody>
      </p:sp>
      <p:sp>
        <p:nvSpPr>
          <p:cNvPr id="42" name="TextBox 42"/>
          <p:cNvSpPr txBox="1"/>
          <p:nvPr/>
        </p:nvSpPr>
        <p:spPr>
          <a:xfrm>
            <a:off x="1676400" y="5727700"/>
            <a:ext cx="8928100" cy="5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公司最需要 AI 的地方不是幫忙寫漂亮文字，而是把「容易被忘記的承諾、變更、工期與客訴」變成可追蹤的風險。</a:t>
            </a:r>
            <a:endParaRPr lang="zh-TW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Problem Definition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為什麼做 AI 風險控管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案件越多，風險越容易藏在日常對話裡。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5</a:t>
            </a:r>
            <a:endParaRPr lang="zh-TW" sz="850"/>
          </a:p>
        </p:txBody>
      </p:sp>
      <p:sp>
        <p:nvSpPr>
          <p:cNvPr id="9" name="TextBox 9"/>
          <p:cNvSpPr txBox="1"/>
          <p:nvPr/>
        </p:nvSpPr>
        <p:spPr>
          <a:xfrm>
            <a:off x="914400" y="15748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800" b="1">
                <a:solidFill>
                  <a:srgbClr val="172033"/>
                </a:solidFill>
                <a:latin typeface="Microsoft JhengHei"/>
                <a:ea typeface="Microsoft JhengHei"/>
              </a:rPr>
              <a:t>主要痛點</a:t>
            </a:r>
            <a:endParaRPr lang="zh-TW" sz="1800"/>
          </a:p>
        </p:txBody>
      </p:sp>
      <p:sp>
        <p:nvSpPr>
          <p:cNvPr id="10" name="TextBox 10"/>
          <p:cNvSpPr txBox="1"/>
          <p:nvPr/>
        </p:nvSpPr>
        <p:spPr>
          <a:xfrm>
            <a:off x="1041400" y="21336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334155"/>
                </a:solidFill>
                <a:latin typeface="Microsoft JhengHei"/>
                <a:ea typeface="Microsoft JhengHei"/>
              </a:rPr>
              <a:t>• LINE 訊息量大，承諾和變更容易被滑過</a:t>
            </a:r>
            <a:endParaRPr lang="zh-TW" sz="1300"/>
          </a:p>
        </p:txBody>
      </p:sp>
      <p:sp>
        <p:nvSpPr>
          <p:cNvPr id="11" name="TextBox 11"/>
          <p:cNvSpPr txBox="1"/>
          <p:nvPr/>
        </p:nvSpPr>
        <p:spPr>
          <a:xfrm>
            <a:off x="1041400" y="25908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334155"/>
                </a:solidFill>
                <a:latin typeface="Microsoft JhengHei"/>
                <a:ea typeface="Microsoft JhengHei"/>
              </a:rPr>
              <a:t>• 工期、里程碑、待辦分散，主管不容易即時掌握</a:t>
            </a:r>
            <a:endParaRPr lang="zh-TW" sz="1300"/>
          </a:p>
        </p:txBody>
      </p:sp>
      <p:sp>
        <p:nvSpPr>
          <p:cNvPr id="12" name="TextBox 12"/>
          <p:cNvSpPr txBox="1"/>
          <p:nvPr/>
        </p:nvSpPr>
        <p:spPr>
          <a:xfrm>
            <a:off x="1041400" y="30480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334155"/>
                </a:solidFill>
                <a:latin typeface="Microsoft JhengHei"/>
                <a:ea typeface="Microsoft JhengHei"/>
              </a:rPr>
              <a:t>• 客訴、修補、收款、發票一漏掉就會變成高成本問題</a:t>
            </a:r>
            <a:endParaRPr lang="zh-TW" sz="1300"/>
          </a:p>
        </p:txBody>
      </p:sp>
      <p:sp>
        <p:nvSpPr>
          <p:cNvPr id="13" name="TextBox 13"/>
          <p:cNvSpPr txBox="1"/>
          <p:nvPr/>
        </p:nvSpPr>
        <p:spPr>
          <a:xfrm>
            <a:off x="1041400" y="3505200"/>
            <a:ext cx="546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334155"/>
                </a:solidFill>
                <a:latin typeface="Microsoft JhengHei"/>
                <a:ea typeface="Microsoft JhengHei"/>
              </a:rPr>
              <a:t>• 靠人記憶追蹤，遇到多案件並行時很不穩定</a:t>
            </a:r>
            <a:endParaRPr lang="zh-TW" sz="1300"/>
          </a:p>
        </p:txBody>
      </p:sp>
      <p:sp>
        <p:nvSpPr>
          <p:cNvPr id="14" name="Shape 14"/>
          <p:cNvSpPr/>
          <p:nvPr/>
        </p:nvSpPr>
        <p:spPr>
          <a:xfrm>
            <a:off x="7239000" y="1625600"/>
            <a:ext cx="3556000" cy="314960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645400" y="2006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800" b="1">
                <a:solidFill>
                  <a:srgbClr val="0F766E"/>
                </a:solidFill>
                <a:latin typeface="Microsoft JhengHei"/>
                <a:ea typeface="Microsoft JhengHei"/>
              </a:rPr>
              <a:t>專案目標</a:t>
            </a:r>
            <a:endParaRPr lang="zh-TW" sz="1800"/>
          </a:p>
        </p:txBody>
      </p:sp>
      <p:sp>
        <p:nvSpPr>
          <p:cNvPr id="16" name="TextBox 16"/>
          <p:cNvSpPr txBox="1"/>
          <p:nvPr/>
        </p:nvSpPr>
        <p:spPr>
          <a:xfrm>
            <a:off x="7645400" y="25908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2500" b="1">
                <a:solidFill>
                  <a:srgbClr val="172033"/>
                </a:solidFill>
                <a:latin typeface="Microsoft JhengHei"/>
                <a:ea typeface="Microsoft JhengHei"/>
              </a:rPr>
              <a:t>讓風險比人更早被看見</a:t>
            </a:r>
            <a:endParaRPr lang="zh-TW" sz="2500"/>
          </a:p>
        </p:txBody>
      </p:sp>
      <p:sp>
        <p:nvSpPr>
          <p:cNvPr id="17" name="TextBox 17"/>
          <p:cNvSpPr txBox="1"/>
          <p:nvPr/>
        </p:nvSpPr>
        <p:spPr>
          <a:xfrm>
            <a:off x="7645400" y="3733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400" b="1">
                <a:solidFill>
                  <a:srgbClr val="0F766E"/>
                </a:solidFill>
                <a:latin typeface="Microsoft JhengHei"/>
                <a:ea typeface="Microsoft JhengHei"/>
              </a:rPr>
              <a:t>少漏回｜少漏追｜少漏工期</a:t>
            </a:r>
            <a:endParaRPr lang="zh-TW" sz="1400"/>
          </a:p>
        </p:txBody>
      </p:sp>
      <p:sp>
        <p:nvSpPr>
          <p:cNvPr id="18" name="Shape 18"/>
          <p:cNvSpPr/>
          <p:nvPr/>
        </p:nvSpPr>
        <p:spPr>
          <a:xfrm>
            <a:off x="1574800" y="5181600"/>
            <a:ext cx="90170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574800" y="5181600"/>
            <a:ext cx="7620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803400" y="5384800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核心想法</a:t>
            </a:r>
            <a:endParaRPr lang="zh-TW" sz="1400"/>
          </a:p>
        </p:txBody>
      </p:sp>
      <p:sp>
        <p:nvSpPr>
          <p:cNvPr id="21" name="TextBox 21"/>
          <p:cNvSpPr txBox="1"/>
          <p:nvPr/>
        </p:nvSpPr>
        <p:spPr>
          <a:xfrm>
            <a:off x="1803400" y="5765800"/>
            <a:ext cx="8610600" cy="-5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先幫公司做第一層整理與提醒，人再做最後判斷，避免直接自動化造成誤判。</a:t>
            </a:r>
            <a:endParaRPr lang="zh-TW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Solution Overview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解決方式：AI案件秘書流程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把訊息、案件、工期、提醒接成一個工作流。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6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889000" y="1701800"/>
            <a:ext cx="16510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16000" y="1866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LINE對話</a:t>
            </a:r>
            <a:endParaRPr lang="zh-TW" sz="1200"/>
          </a:p>
        </p:txBody>
      </p:sp>
      <p:sp>
        <p:nvSpPr>
          <p:cNvPr id="11" name="TextBox 11"/>
          <p:cNvSpPr txBox="1"/>
          <p:nvPr/>
        </p:nvSpPr>
        <p:spPr>
          <a:xfrm>
            <a:off x="1016000" y="2159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客戶 / 員工 / 廠商</a:t>
            </a:r>
            <a:endParaRPr lang="zh-TW" sz="850"/>
          </a:p>
        </p:txBody>
      </p:sp>
      <p:sp>
        <p:nvSpPr>
          <p:cNvPr id="12" name="TextBox 12"/>
          <p:cNvSpPr txBox="1"/>
          <p:nvPr/>
        </p:nvSpPr>
        <p:spPr>
          <a:xfrm>
            <a:off x="2565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3" name="Shape 13"/>
          <p:cNvSpPr/>
          <p:nvPr/>
        </p:nvSpPr>
        <p:spPr>
          <a:xfrm>
            <a:off x="3048000" y="1701800"/>
            <a:ext cx="16510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175000" y="1866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AI分析</a:t>
            </a:r>
            <a:endParaRPr lang="zh-TW" sz="1200"/>
          </a:p>
        </p:txBody>
      </p:sp>
      <p:sp>
        <p:nvSpPr>
          <p:cNvPr id="15" name="TextBox 15"/>
          <p:cNvSpPr txBox="1"/>
          <p:nvPr/>
        </p:nvSpPr>
        <p:spPr>
          <a:xfrm>
            <a:off x="3175000" y="2159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承諾、變更、付款</a:t>
            </a:r>
            <a:endParaRPr lang="zh-TW" sz="850"/>
          </a:p>
        </p:txBody>
      </p:sp>
      <p:sp>
        <p:nvSpPr>
          <p:cNvPr id="16" name="TextBox 16"/>
          <p:cNvSpPr txBox="1"/>
          <p:nvPr/>
        </p:nvSpPr>
        <p:spPr>
          <a:xfrm>
            <a:off x="4724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7" name="Shape 17"/>
          <p:cNvSpPr/>
          <p:nvPr/>
        </p:nvSpPr>
        <p:spPr>
          <a:xfrm>
            <a:off x="5207000" y="1701800"/>
            <a:ext cx="16510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334000" y="1866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待審草稿</a:t>
            </a:r>
            <a:endParaRPr lang="zh-TW" sz="1200"/>
          </a:p>
        </p:txBody>
      </p:sp>
      <p:sp>
        <p:nvSpPr>
          <p:cNvPr id="19" name="TextBox 19"/>
          <p:cNvSpPr txBox="1"/>
          <p:nvPr/>
        </p:nvSpPr>
        <p:spPr>
          <a:xfrm>
            <a:off x="5334000" y="2159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不直接執行</a:t>
            </a:r>
            <a:endParaRPr lang="zh-TW" sz="850"/>
          </a:p>
        </p:txBody>
      </p:sp>
      <p:sp>
        <p:nvSpPr>
          <p:cNvPr id="20" name="TextBox 20"/>
          <p:cNvSpPr txBox="1"/>
          <p:nvPr/>
        </p:nvSpPr>
        <p:spPr>
          <a:xfrm>
            <a:off x="6883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21" name="Shape 21"/>
          <p:cNvSpPr/>
          <p:nvPr/>
        </p:nvSpPr>
        <p:spPr>
          <a:xfrm>
            <a:off x="7366000" y="1701800"/>
            <a:ext cx="16510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493000" y="1866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人工審核</a:t>
            </a:r>
            <a:endParaRPr lang="zh-TW" sz="1200"/>
          </a:p>
        </p:txBody>
      </p:sp>
      <p:sp>
        <p:nvSpPr>
          <p:cNvPr id="23" name="TextBox 23"/>
          <p:cNvSpPr txBox="1"/>
          <p:nvPr/>
        </p:nvSpPr>
        <p:spPr>
          <a:xfrm>
            <a:off x="7493000" y="2159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核准、拒絕、修改</a:t>
            </a:r>
            <a:endParaRPr lang="zh-TW" sz="850"/>
          </a:p>
        </p:txBody>
      </p:sp>
      <p:sp>
        <p:nvSpPr>
          <p:cNvPr id="24" name="TextBox 24"/>
          <p:cNvSpPr txBox="1"/>
          <p:nvPr/>
        </p:nvSpPr>
        <p:spPr>
          <a:xfrm>
            <a:off x="9042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25" name="Shape 25"/>
          <p:cNvSpPr/>
          <p:nvPr/>
        </p:nvSpPr>
        <p:spPr>
          <a:xfrm>
            <a:off x="9525000" y="1701800"/>
            <a:ext cx="1651000" cy="863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652000" y="18669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 b="1">
                <a:solidFill>
                  <a:srgbClr val="172033"/>
                </a:solidFill>
                <a:latin typeface="Microsoft JhengHei"/>
                <a:ea typeface="Microsoft JhengHei"/>
              </a:rPr>
              <a:t>正式追蹤</a:t>
            </a:r>
            <a:endParaRPr lang="zh-TW" sz="1200"/>
          </a:p>
        </p:txBody>
      </p:sp>
      <p:sp>
        <p:nvSpPr>
          <p:cNvPr id="27" name="TextBox 27"/>
          <p:cNvSpPr txBox="1"/>
          <p:nvPr/>
        </p:nvSpPr>
        <p:spPr>
          <a:xfrm>
            <a:off x="9652000" y="2159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待辦、提醒、風險</a:t>
            </a:r>
            <a:endParaRPr lang="zh-TW" sz="850"/>
          </a:p>
        </p:txBody>
      </p:sp>
      <p:sp>
        <p:nvSpPr>
          <p:cNvPr id="28" name="Shape 28"/>
          <p:cNvSpPr/>
          <p:nvPr/>
        </p:nvSpPr>
        <p:spPr>
          <a:xfrm>
            <a:off x="990600" y="3403600"/>
            <a:ext cx="3175000" cy="165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9" name="Shape 29"/>
          <p:cNvSpPr/>
          <p:nvPr/>
        </p:nvSpPr>
        <p:spPr>
          <a:xfrm>
            <a:off x="990600" y="3403600"/>
            <a:ext cx="76200" cy="165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219200" y="36068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資料來源</a:t>
            </a:r>
            <a:endParaRPr lang="zh-TW" sz="1400"/>
          </a:p>
        </p:txBody>
      </p:sp>
      <p:sp>
        <p:nvSpPr>
          <p:cNvPr id="31" name="TextBox 31"/>
          <p:cNvSpPr txBox="1"/>
          <p:nvPr/>
        </p:nvSpPr>
        <p:spPr>
          <a:xfrm>
            <a:off x="1219200" y="3987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案件資料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LINE 訊息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施工工期表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關鍵里程碑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待辦與審核紀錄</a:t>
            </a:r>
            <a:endParaRPr lang="zh-TW" sz="1050"/>
          </a:p>
        </p:txBody>
      </p:sp>
      <p:sp>
        <p:nvSpPr>
          <p:cNvPr id="32" name="Shape 32"/>
          <p:cNvSpPr/>
          <p:nvPr/>
        </p:nvSpPr>
        <p:spPr>
          <a:xfrm>
            <a:off x="4495800" y="3403600"/>
            <a:ext cx="3175000" cy="165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Shape 33"/>
          <p:cNvSpPr/>
          <p:nvPr/>
        </p:nvSpPr>
        <p:spPr>
          <a:xfrm>
            <a:off x="4495800" y="3403600"/>
            <a:ext cx="76200" cy="1651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724400" y="36068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系統功能</a:t>
            </a:r>
            <a:endParaRPr lang="zh-TW" sz="1400"/>
          </a:p>
        </p:txBody>
      </p:sp>
      <p:sp>
        <p:nvSpPr>
          <p:cNvPr id="35" name="TextBox 35"/>
          <p:cNvSpPr txBox="1"/>
          <p:nvPr/>
        </p:nvSpPr>
        <p:spPr>
          <a:xfrm>
            <a:off x="4724400" y="3987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待辦審核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今日風險中心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LINE 後台提醒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工期與里程碑追蹤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操作紀錄</a:t>
            </a:r>
            <a:endParaRPr lang="zh-TW" sz="1050"/>
          </a:p>
        </p:txBody>
      </p:sp>
      <p:sp>
        <p:nvSpPr>
          <p:cNvPr id="36" name="Shape 36"/>
          <p:cNvSpPr/>
          <p:nvPr/>
        </p:nvSpPr>
        <p:spPr>
          <a:xfrm>
            <a:off x="8001000" y="3403600"/>
            <a:ext cx="3175000" cy="1651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7" name="Shape 37"/>
          <p:cNvSpPr/>
          <p:nvPr/>
        </p:nvSpPr>
        <p:spPr>
          <a:xfrm>
            <a:off x="8001000" y="3403600"/>
            <a:ext cx="76200" cy="1651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229600" y="36068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使用技術</a:t>
            </a:r>
            <a:endParaRPr lang="zh-TW" sz="1400"/>
          </a:p>
        </p:txBody>
      </p:sp>
      <p:sp>
        <p:nvSpPr>
          <p:cNvPr id="39" name="TextBox 39"/>
          <p:cNvSpPr txBox="1"/>
          <p:nvPr/>
        </p:nvSpPr>
        <p:spPr>
          <a:xfrm>
            <a:off x="8229600" y="3987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Next.js / TypeScript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Firebase / Firestore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LINE Messaging API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OpenAI API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Netlify 排程</a:t>
            </a:r>
            <a:endParaRPr lang="zh-TW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Risk Rules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AI 風險判斷邏輯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系統用 AI 分析加上固定規則，避免只靠模型猜測。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7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914400" y="1549400"/>
            <a:ext cx="3124200" cy="162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914400" y="1549400"/>
            <a:ext cx="76200" cy="16256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43000" y="1752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高風險類型</a:t>
            </a:r>
            <a:endParaRPr lang="zh-TW" sz="1400"/>
          </a:p>
        </p:txBody>
      </p:sp>
      <p:sp>
        <p:nvSpPr>
          <p:cNvPr id="12" name="TextBox 12"/>
          <p:cNvSpPr txBox="1"/>
          <p:nvPr/>
        </p:nvSpPr>
        <p:spPr>
          <a:xfrm>
            <a:off x="1143000" y="2133600"/>
            <a:ext cx="2717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變更 change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收款 payment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發票 invoice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客訴 / 修補 / 缺失</a:t>
            </a:r>
            <a:endParaRPr lang="zh-TW" sz="1050"/>
          </a:p>
        </p:txBody>
      </p:sp>
      <p:sp>
        <p:nvSpPr>
          <p:cNvPr id="13" name="Shape 13"/>
          <p:cNvSpPr/>
          <p:nvPr/>
        </p:nvSpPr>
        <p:spPr>
          <a:xfrm>
            <a:off x="4533900" y="1549400"/>
            <a:ext cx="3124200" cy="162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33900" y="1549400"/>
            <a:ext cx="76200" cy="16256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762500" y="1752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時間風險</a:t>
            </a:r>
            <a:endParaRPr lang="zh-TW" sz="1400"/>
          </a:p>
        </p:txBody>
      </p:sp>
      <p:sp>
        <p:nvSpPr>
          <p:cNvPr id="16" name="TextBox 16"/>
          <p:cNvSpPr txBox="1"/>
          <p:nvPr/>
        </p:nvSpPr>
        <p:spPr>
          <a:xfrm>
            <a:off x="4762500" y="2133600"/>
            <a:ext cx="2717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今天到期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已逾期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工期節點逾期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里程碑逾期</a:t>
            </a:r>
            <a:endParaRPr lang="zh-TW" sz="1050"/>
          </a:p>
        </p:txBody>
      </p:sp>
      <p:sp>
        <p:nvSpPr>
          <p:cNvPr id="17" name="Shape 17"/>
          <p:cNvSpPr/>
          <p:nvPr/>
        </p:nvSpPr>
        <p:spPr>
          <a:xfrm>
            <a:off x="8153400" y="1549400"/>
            <a:ext cx="3124200" cy="162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53400" y="1549400"/>
            <a:ext cx="76200" cy="16256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82000" y="1752600"/>
            <a:ext cx="274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審核風險</a:t>
            </a:r>
            <a:endParaRPr lang="zh-TW" sz="1400"/>
          </a:p>
        </p:txBody>
      </p:sp>
      <p:sp>
        <p:nvSpPr>
          <p:cNvPr id="20" name="TextBox 20"/>
          <p:cNvSpPr txBox="1"/>
          <p:nvPr/>
        </p:nvSpPr>
        <p:spPr>
          <a:xfrm>
            <a:off x="8382000" y="2133600"/>
            <a:ext cx="2717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草稿超過 30 分鐘未審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超過 3 小時改為高優先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可能已回覆但未確認</a:t>
            </a:r>
            <a:endParaRPr lang="zh-TW" sz="1050"/>
          </a:p>
        </p:txBody>
      </p:sp>
      <p:sp>
        <p:nvSpPr>
          <p:cNvPr id="21" name="TextBox 21"/>
          <p:cNvSpPr txBox="1"/>
          <p:nvPr/>
        </p:nvSpPr>
        <p:spPr>
          <a:xfrm>
            <a:off x="1092200" y="37338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800" b="1">
                <a:solidFill>
                  <a:srgbClr val="172033"/>
                </a:solidFill>
                <a:latin typeface="Microsoft JhengHei"/>
                <a:ea typeface="Microsoft JhengHei"/>
              </a:rPr>
              <a:t>系統把風險分成兩層</a:t>
            </a:r>
            <a:endParaRPr lang="zh-TW" sz="1800"/>
          </a:p>
        </p:txBody>
      </p:sp>
      <p:sp>
        <p:nvSpPr>
          <p:cNvPr id="22" name="TextBox 22"/>
          <p:cNvSpPr txBox="1"/>
          <p:nvPr/>
        </p:nvSpPr>
        <p:spPr>
          <a:xfrm>
            <a:off x="1168400" y="4241800"/>
            <a:ext cx="984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AI 層：從文字判斷是否有承諾、變更、收款、發票或追蹤事項</a:t>
            </a:r>
            <a:endParaRPr lang="zh-TW" sz="1250"/>
          </a:p>
        </p:txBody>
      </p:sp>
      <p:sp>
        <p:nvSpPr>
          <p:cNvPr id="23" name="TextBox 23"/>
          <p:cNvSpPr txBox="1"/>
          <p:nvPr/>
        </p:nvSpPr>
        <p:spPr>
          <a:xfrm>
            <a:off x="1168400" y="4622800"/>
            <a:ext cx="984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規則層：只要出現客訴、缺失、修補、不滿意等字詞，直接提高風險</a:t>
            </a:r>
            <a:endParaRPr lang="zh-TW" sz="1250"/>
          </a:p>
        </p:txBody>
      </p:sp>
      <p:sp>
        <p:nvSpPr>
          <p:cNvPr id="24" name="TextBox 24"/>
          <p:cNvSpPr txBox="1"/>
          <p:nvPr/>
        </p:nvSpPr>
        <p:spPr>
          <a:xfrm>
            <a:off x="1168400" y="5003800"/>
            <a:ext cx="9842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資料層：工期、里程碑、待辦逾期時，自動把案件推到風險中心</a:t>
            </a:r>
            <a:endParaRPr lang="zh-TW"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Human In The Loop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核心功能一：AI 待辦審核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AI 先提案，人再決定是否變成正式待辦。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8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990600" y="1574800"/>
            <a:ext cx="102235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20800" y="20828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300" b="1">
                <a:solidFill>
                  <a:srgbClr val="172033"/>
                </a:solidFill>
                <a:latin typeface="Microsoft JhengHei"/>
                <a:ea typeface="Microsoft JhengHei"/>
              </a:rPr>
              <a:t>案件 LINE 訊息</a:t>
            </a:r>
            <a:endParaRPr lang="zh-TW" sz="1300"/>
          </a:p>
        </p:txBody>
      </p:sp>
      <p:sp>
        <p:nvSpPr>
          <p:cNvPr id="11" name="TextBox 11"/>
          <p:cNvSpPr txBox="1"/>
          <p:nvPr/>
        </p:nvSpPr>
        <p:spPr>
          <a:xfrm>
            <a:off x="31242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2" name="TextBox 12"/>
          <p:cNvSpPr txBox="1"/>
          <p:nvPr/>
        </p:nvSpPr>
        <p:spPr>
          <a:xfrm>
            <a:off x="3759200" y="2082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300" b="1">
                <a:solidFill>
                  <a:srgbClr val="172033"/>
                </a:solidFill>
                <a:latin typeface="Microsoft JhengHei"/>
                <a:ea typeface="Microsoft JhengHei"/>
              </a:rPr>
              <a:t>AI 草稿</a:t>
            </a:r>
            <a:endParaRPr lang="zh-TW" sz="1300"/>
          </a:p>
        </p:txBody>
      </p:sp>
      <p:sp>
        <p:nvSpPr>
          <p:cNvPr id="13" name="TextBox 13"/>
          <p:cNvSpPr txBox="1"/>
          <p:nvPr/>
        </p:nvSpPr>
        <p:spPr>
          <a:xfrm>
            <a:off x="5384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4" name="TextBox 14"/>
          <p:cNvSpPr txBox="1"/>
          <p:nvPr/>
        </p:nvSpPr>
        <p:spPr>
          <a:xfrm>
            <a:off x="5994400" y="2082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300" b="1">
                <a:solidFill>
                  <a:srgbClr val="172033"/>
                </a:solidFill>
                <a:latin typeface="Microsoft JhengHei"/>
                <a:ea typeface="Microsoft JhengHei"/>
              </a:rPr>
              <a:t>人工修改 / 核准</a:t>
            </a:r>
            <a:endParaRPr lang="zh-TW" sz="1300"/>
          </a:p>
        </p:txBody>
      </p:sp>
      <p:sp>
        <p:nvSpPr>
          <p:cNvPr id="15" name="TextBox 15"/>
          <p:cNvSpPr txBox="1"/>
          <p:nvPr/>
        </p:nvSpPr>
        <p:spPr>
          <a:xfrm>
            <a:off x="81026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6" name="TextBox 16"/>
          <p:cNvSpPr txBox="1"/>
          <p:nvPr/>
        </p:nvSpPr>
        <p:spPr>
          <a:xfrm>
            <a:off x="8763000" y="2082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300" b="1">
                <a:solidFill>
                  <a:srgbClr val="172033"/>
                </a:solidFill>
                <a:latin typeface="Microsoft JhengHei"/>
                <a:ea typeface="Microsoft JhengHei"/>
              </a:rPr>
              <a:t>正式待辦</a:t>
            </a:r>
            <a:endParaRPr lang="zh-TW" sz="1300"/>
          </a:p>
        </p:txBody>
      </p:sp>
      <p:sp>
        <p:nvSpPr>
          <p:cNvPr id="17" name="Shape 17"/>
          <p:cNvSpPr/>
          <p:nvPr/>
        </p:nvSpPr>
        <p:spPr>
          <a:xfrm>
            <a:off x="1320800" y="3530600"/>
            <a:ext cx="2857500" cy="170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320800" y="3530600"/>
            <a:ext cx="76200" cy="17018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549400" y="37338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可審核內容</a:t>
            </a:r>
            <a:endParaRPr lang="zh-TW" sz="1400"/>
          </a:p>
        </p:txBody>
      </p:sp>
      <p:sp>
        <p:nvSpPr>
          <p:cNvPr id="20" name="TextBox 20"/>
          <p:cNvSpPr txBox="1"/>
          <p:nvPr/>
        </p:nvSpPr>
        <p:spPr>
          <a:xfrm>
            <a:off x="1549400" y="4114800"/>
            <a:ext cx="24511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標題、描述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案件綁定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類型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負責人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截止日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狀態</a:t>
            </a:r>
            <a:endParaRPr lang="zh-TW" sz="1050"/>
          </a:p>
        </p:txBody>
      </p:sp>
      <p:sp>
        <p:nvSpPr>
          <p:cNvPr id="21" name="Shape 21"/>
          <p:cNvSpPr/>
          <p:nvPr/>
        </p:nvSpPr>
        <p:spPr>
          <a:xfrm>
            <a:off x="4673600" y="3530600"/>
            <a:ext cx="2857500" cy="170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Shape 22"/>
          <p:cNvSpPr/>
          <p:nvPr/>
        </p:nvSpPr>
        <p:spPr>
          <a:xfrm>
            <a:off x="4673600" y="3530600"/>
            <a:ext cx="76200" cy="17018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902200" y="37338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為什麼要審核</a:t>
            </a:r>
            <a:endParaRPr lang="zh-TW" sz="1400"/>
          </a:p>
        </p:txBody>
      </p:sp>
      <p:sp>
        <p:nvSpPr>
          <p:cNvPr id="24" name="TextBox 24"/>
          <p:cNvSpPr txBox="1"/>
          <p:nvPr/>
        </p:nvSpPr>
        <p:spPr>
          <a:xfrm>
            <a:off x="4902200" y="4114800"/>
            <a:ext cx="24511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可能誤判語氣或背景。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由員工確認後才建立正式待辦，比全自動更安全。</a:t>
            </a:r>
            <a:endParaRPr lang="zh-TW" sz="1050"/>
          </a:p>
        </p:txBody>
      </p:sp>
      <p:sp>
        <p:nvSpPr>
          <p:cNvPr id="25" name="Shape 25"/>
          <p:cNvSpPr/>
          <p:nvPr/>
        </p:nvSpPr>
        <p:spPr>
          <a:xfrm>
            <a:off x="8026400" y="3530600"/>
            <a:ext cx="2857500" cy="170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Shape 26"/>
          <p:cNvSpPr/>
          <p:nvPr/>
        </p:nvSpPr>
        <p:spPr>
          <a:xfrm>
            <a:off x="8026400" y="3530600"/>
            <a:ext cx="76200" cy="17018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255000" y="37338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產生效果</a:t>
            </a:r>
            <a:endParaRPr lang="zh-TW" sz="1400"/>
          </a:p>
        </p:txBody>
      </p:sp>
      <p:sp>
        <p:nvSpPr>
          <p:cNvPr id="28" name="TextBox 28"/>
          <p:cNvSpPr txBox="1"/>
          <p:nvPr/>
        </p:nvSpPr>
        <p:spPr>
          <a:xfrm>
            <a:off x="8255000" y="4114800"/>
            <a:ext cx="24511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對話不只停在 LINE。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它會變成可負責、可追蹤、可提醒的工作項目。</a:t>
            </a:r>
            <a:endParaRPr lang="zh-TW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Risk Center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核心功能二：今日風險中心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每天先看最需要處理的事情。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9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889000" y="16002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889000" y="1600200"/>
            <a:ext cx="76200" cy="15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17600" y="18034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高風險案件</a:t>
            </a:r>
            <a:endParaRPr lang="zh-TW" sz="1400"/>
          </a:p>
        </p:txBody>
      </p:sp>
      <p:sp>
        <p:nvSpPr>
          <p:cNvPr id="12" name="TextBox 12"/>
          <p:cNvSpPr txBox="1"/>
          <p:nvPr/>
        </p:nvSpPr>
        <p:spPr>
          <a:xfrm>
            <a:off x="1117600" y="21844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案件有逾期工期、逾期里程碑或高風險標記</a:t>
            </a:r>
            <a:endParaRPr lang="zh-TW" sz="1050"/>
          </a:p>
        </p:txBody>
      </p:sp>
      <p:sp>
        <p:nvSpPr>
          <p:cNvPr id="13" name="Shape 13"/>
          <p:cNvSpPr/>
          <p:nvPr/>
        </p:nvSpPr>
        <p:spPr>
          <a:xfrm>
            <a:off x="4572000" y="16002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72000" y="1600200"/>
            <a:ext cx="76200" cy="15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00600" y="18034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高風險待辦</a:t>
            </a:r>
            <a:endParaRPr lang="zh-TW" sz="1400"/>
          </a:p>
        </p:txBody>
      </p:sp>
      <p:sp>
        <p:nvSpPr>
          <p:cNvPr id="16" name="TextBox 16"/>
          <p:cNvSpPr txBox="1"/>
          <p:nvPr/>
        </p:nvSpPr>
        <p:spPr>
          <a:xfrm>
            <a:off x="4800600" y="21844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客訴、修補、變更、收款、發票等事項</a:t>
            </a:r>
            <a:endParaRPr lang="zh-TW" sz="1050"/>
          </a:p>
        </p:txBody>
      </p:sp>
      <p:sp>
        <p:nvSpPr>
          <p:cNvPr id="17" name="Shape 17"/>
          <p:cNvSpPr/>
          <p:nvPr/>
        </p:nvSpPr>
        <p:spPr>
          <a:xfrm>
            <a:off x="8255000" y="16002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255000" y="1600200"/>
            <a:ext cx="76200" cy="1524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83600" y="18034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逾期 / 今天到期</a:t>
            </a:r>
            <a:endParaRPr lang="zh-TW" sz="1400"/>
          </a:p>
        </p:txBody>
      </p:sp>
      <p:sp>
        <p:nvSpPr>
          <p:cNvPr id="20" name="TextBox 20"/>
          <p:cNvSpPr txBox="1"/>
          <p:nvPr/>
        </p:nvSpPr>
        <p:spPr>
          <a:xfrm>
            <a:off x="8483600" y="21844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把時間壓力直接拉到第一層畫面</a:t>
            </a:r>
            <a:endParaRPr lang="zh-TW" sz="1050"/>
          </a:p>
        </p:txBody>
      </p:sp>
      <p:sp>
        <p:nvSpPr>
          <p:cNvPr id="21" name="Shape 21"/>
          <p:cNvSpPr/>
          <p:nvPr/>
        </p:nvSpPr>
        <p:spPr>
          <a:xfrm>
            <a:off x="889000" y="37084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89000" y="3708400"/>
            <a:ext cx="76200" cy="1524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17600" y="39116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關鍵節點預警</a:t>
            </a:r>
            <a:endParaRPr lang="zh-TW" sz="1400"/>
          </a:p>
        </p:txBody>
      </p:sp>
      <p:sp>
        <p:nvSpPr>
          <p:cNvPr id="24" name="TextBox 24"/>
          <p:cNvSpPr txBox="1"/>
          <p:nvPr/>
        </p:nvSpPr>
        <p:spPr>
          <a:xfrm>
            <a:off x="1117600" y="42926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例如丈量、進場、驗收、請款日前提醒</a:t>
            </a:r>
            <a:endParaRPr lang="zh-TW" sz="1050"/>
          </a:p>
        </p:txBody>
      </p:sp>
      <p:sp>
        <p:nvSpPr>
          <p:cNvPr id="25" name="Shape 25"/>
          <p:cNvSpPr/>
          <p:nvPr/>
        </p:nvSpPr>
        <p:spPr>
          <a:xfrm>
            <a:off x="4572000" y="37084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6" name="Shape 26"/>
          <p:cNvSpPr/>
          <p:nvPr/>
        </p:nvSpPr>
        <p:spPr>
          <a:xfrm>
            <a:off x="4572000" y="3708400"/>
            <a:ext cx="76200" cy="1524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800600" y="39116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AI 待審逾時</a:t>
            </a:r>
            <a:endParaRPr lang="zh-TW" sz="1400"/>
          </a:p>
        </p:txBody>
      </p:sp>
      <p:sp>
        <p:nvSpPr>
          <p:cNvPr id="28" name="TextBox 28"/>
          <p:cNvSpPr txBox="1"/>
          <p:nvPr/>
        </p:nvSpPr>
        <p:spPr>
          <a:xfrm>
            <a:off x="4800600" y="42926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草稿超過 30 分鐘未審核就提醒</a:t>
            </a:r>
            <a:endParaRPr lang="zh-TW" sz="1050"/>
          </a:p>
        </p:txBody>
      </p:sp>
      <p:sp>
        <p:nvSpPr>
          <p:cNvPr id="29" name="Shape 29"/>
          <p:cNvSpPr/>
          <p:nvPr/>
        </p:nvSpPr>
        <p:spPr>
          <a:xfrm>
            <a:off x="8255000" y="3708400"/>
            <a:ext cx="30480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Shape 30"/>
          <p:cNvSpPr/>
          <p:nvPr/>
        </p:nvSpPr>
        <p:spPr>
          <a:xfrm>
            <a:off x="8255000" y="3708400"/>
            <a:ext cx="76200" cy="1524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83600" y="39116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可能已回覆未確認</a:t>
            </a:r>
            <a:endParaRPr lang="zh-TW" sz="1400"/>
          </a:p>
        </p:txBody>
      </p:sp>
      <p:sp>
        <p:nvSpPr>
          <p:cNvPr id="32" name="TextBox 32"/>
          <p:cNvSpPr txBox="1"/>
          <p:nvPr/>
        </p:nvSpPr>
        <p:spPr>
          <a:xfrm>
            <a:off x="8483600" y="42926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提醒員工確認是否已處理完畢</a:t>
            </a:r>
            <a:endParaRPr lang="zh-TW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Reminder System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核心功能三：LINE 後台提醒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提醒直接回到團隊最常使用的 LINE。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10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1041400" y="1600200"/>
            <a:ext cx="3022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041400" y="1600200"/>
            <a:ext cx="76200" cy="228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0000" y="1803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08:30 開工摘要</a:t>
            </a:r>
            <a:endParaRPr lang="zh-TW" sz="1400"/>
          </a:p>
        </p:txBody>
      </p:sp>
      <p:sp>
        <p:nvSpPr>
          <p:cNvPr id="12" name="TextBox 12"/>
          <p:cNvSpPr txBox="1"/>
          <p:nvPr/>
        </p:nvSpPr>
        <p:spPr>
          <a:xfrm>
            <a:off x="1270000" y="2184400"/>
            <a:ext cx="26162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今天到期 / 已逾期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今天進場工程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高風險案件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隔夜未審草稿</a:t>
            </a:r>
            <a:endParaRPr lang="zh-TW" sz="1050"/>
          </a:p>
        </p:txBody>
      </p:sp>
      <p:sp>
        <p:nvSpPr>
          <p:cNvPr id="13" name="Shape 13"/>
          <p:cNvSpPr/>
          <p:nvPr/>
        </p:nvSpPr>
        <p:spPr>
          <a:xfrm>
            <a:off x="4584700" y="1600200"/>
            <a:ext cx="3022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584700" y="1600200"/>
            <a:ext cx="76200" cy="228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813300" y="1803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14:00 未回覆檢查</a:t>
            </a:r>
            <a:endParaRPr lang="zh-TW" sz="1400"/>
          </a:p>
        </p:txBody>
      </p:sp>
      <p:sp>
        <p:nvSpPr>
          <p:cNvPr id="16" name="TextBox 16"/>
          <p:cNvSpPr txBox="1"/>
          <p:nvPr/>
        </p:nvSpPr>
        <p:spPr>
          <a:xfrm>
            <a:off x="4813300" y="2184400"/>
            <a:ext cx="26162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客戶訊息是否漏回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草稿是否超過 30 分鐘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今天承諾是否完成</a:t>
            </a:r>
            <a:endParaRPr lang="zh-TW" sz="1050"/>
          </a:p>
        </p:txBody>
      </p:sp>
      <p:sp>
        <p:nvSpPr>
          <p:cNvPr id="17" name="Shape 17"/>
          <p:cNvSpPr/>
          <p:nvPr/>
        </p:nvSpPr>
        <p:spPr>
          <a:xfrm>
            <a:off x="8128000" y="1600200"/>
            <a:ext cx="30226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Shape 18"/>
          <p:cNvSpPr/>
          <p:nvPr/>
        </p:nvSpPr>
        <p:spPr>
          <a:xfrm>
            <a:off x="8128000" y="1600200"/>
            <a:ext cx="7620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56600" y="18034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18:30 收尾提醒</a:t>
            </a:r>
            <a:endParaRPr lang="zh-TW" sz="1400"/>
          </a:p>
        </p:txBody>
      </p:sp>
      <p:sp>
        <p:nvSpPr>
          <p:cNvPr id="20" name="TextBox 20"/>
          <p:cNvSpPr txBox="1"/>
          <p:nvPr/>
        </p:nvSpPr>
        <p:spPr>
          <a:xfrm>
            <a:off x="8356600" y="2184400"/>
            <a:ext cx="2616200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下班前確認逾期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今日新增變更 / 收款 / 發票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高風險事項收尾</a:t>
            </a:r>
            <a:endParaRPr lang="zh-TW" sz="1050"/>
          </a:p>
        </p:txBody>
      </p:sp>
      <p:sp>
        <p:nvSpPr>
          <p:cNvPr id="21" name="TextBox 21"/>
          <p:cNvSpPr txBox="1"/>
          <p:nvPr/>
        </p:nvSpPr>
        <p:spPr>
          <a:xfrm>
            <a:off x="1219200" y="4572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700" b="1">
                <a:solidFill>
                  <a:srgbClr val="172033"/>
                </a:solidFill>
                <a:latin typeface="Microsoft JhengHei"/>
                <a:ea typeface="Microsoft JhengHei"/>
              </a:rPr>
              <a:t>LINE 後台可做的事</a:t>
            </a:r>
            <a:endParaRPr lang="zh-TW" sz="1700"/>
          </a:p>
        </p:txBody>
      </p:sp>
      <p:sp>
        <p:nvSpPr>
          <p:cNvPr id="22" name="TextBox 22"/>
          <p:cNvSpPr txBox="1"/>
          <p:nvPr/>
        </p:nvSpPr>
        <p:spPr>
          <a:xfrm>
            <a:off x="1320800" y="50419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按「已確認」代表已處理</a:t>
            </a:r>
            <a:endParaRPr lang="zh-TW" sz="1150"/>
          </a:p>
        </p:txBody>
      </p:sp>
      <p:sp>
        <p:nvSpPr>
          <p:cNvPr id="23" name="TextBox 23"/>
          <p:cNvSpPr txBox="1"/>
          <p:nvPr/>
        </p:nvSpPr>
        <p:spPr>
          <a:xfrm>
            <a:off x="1320800" y="53467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按「明天再提醒」延後追蹤</a:t>
            </a:r>
            <a:endParaRPr lang="zh-TW" sz="1150"/>
          </a:p>
        </p:txBody>
      </p:sp>
      <p:sp>
        <p:nvSpPr>
          <p:cNvPr id="24" name="TextBox 24"/>
          <p:cNvSpPr txBox="1"/>
          <p:nvPr/>
        </p:nvSpPr>
        <p:spPr>
          <a:xfrm>
            <a:off x="1320800" y="56515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AI 草稿可在 LINE 直接核准或拒絕</a:t>
            </a:r>
            <a:endParaRPr lang="zh-TW" sz="1150"/>
          </a:p>
        </p:txBody>
      </p:sp>
      <p:sp>
        <p:nvSpPr>
          <p:cNvPr id="25" name="TextBox 25"/>
          <p:cNvSpPr txBox="1"/>
          <p:nvPr/>
        </p:nvSpPr>
        <p:spPr>
          <a:xfrm>
            <a:off x="1320800" y="5956300"/>
            <a:ext cx="965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客戶群安靜同步，公司後台群才互動</a:t>
            </a:r>
            <a:endParaRPr lang="zh-TW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Example Flow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情境示範：一段客戶訊息如何變成風險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把口語對話轉成可追蹤工作。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11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990600" y="1600200"/>
            <a:ext cx="4572000" cy="1320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295400" y="18542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0F766E"/>
                </a:solidFill>
                <a:latin typeface="Microsoft JhengHei"/>
                <a:ea typeface="Microsoft JhengHei"/>
              </a:rPr>
              <a:t>客戶 LINE 訊息</a:t>
            </a:r>
            <a:endParaRPr lang="zh-TW" sz="1400"/>
          </a:p>
        </p:txBody>
      </p:sp>
      <p:sp>
        <p:nvSpPr>
          <p:cNvPr id="11" name="TextBox 11"/>
          <p:cNvSpPr txBox="1"/>
          <p:nvPr/>
        </p:nvSpPr>
        <p:spPr>
          <a:xfrm>
            <a:off x="1295400" y="2235200"/>
            <a:ext cx="381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300">
                <a:solidFill>
                  <a:srgbClr val="172033"/>
                </a:solidFill>
                <a:latin typeface="Microsoft JhengHei"/>
                <a:ea typeface="Microsoft JhengHei"/>
              </a:rPr>
              <a:t>「櫃子尺寸想改，這邊也有缺失要修補，尾款發票也要確認。」</a:t>
            </a:r>
            <a:endParaRPr lang="zh-TW" sz="1300"/>
          </a:p>
        </p:txBody>
      </p:sp>
      <p:sp>
        <p:nvSpPr>
          <p:cNvPr id="12" name="TextBox 12"/>
          <p:cNvSpPr txBox="1"/>
          <p:nvPr/>
        </p:nvSpPr>
        <p:spPr>
          <a:xfrm>
            <a:off x="5867400" y="2095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700" b="1">
                <a:solidFill>
                  <a:srgbClr val="0F766E"/>
                </a:solidFill>
                <a:latin typeface="Microsoft JhengHei"/>
                <a:ea typeface="Microsoft JhengHei"/>
              </a:rPr>
              <a:t>→</a:t>
            </a:r>
            <a:endParaRPr lang="zh-TW" sz="1700"/>
          </a:p>
        </p:txBody>
      </p:sp>
      <p:sp>
        <p:nvSpPr>
          <p:cNvPr id="13" name="Shape 13"/>
          <p:cNvSpPr/>
          <p:nvPr/>
        </p:nvSpPr>
        <p:spPr>
          <a:xfrm>
            <a:off x="6604000" y="1422400"/>
            <a:ext cx="4191000" cy="182880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59600" y="17272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500" b="1">
                <a:solidFill>
                  <a:srgbClr val="0F766E"/>
                </a:solidFill>
                <a:latin typeface="Microsoft JhengHei"/>
                <a:ea typeface="Microsoft JhengHei"/>
              </a:rPr>
              <a:t>AI 產生待審草稿</a:t>
            </a:r>
            <a:endParaRPr lang="zh-TW" sz="1500"/>
          </a:p>
        </p:txBody>
      </p:sp>
      <p:sp>
        <p:nvSpPr>
          <p:cNvPr id="15" name="TextBox 15"/>
          <p:cNvSpPr txBox="1"/>
          <p:nvPr/>
        </p:nvSpPr>
        <p:spPr>
          <a:xfrm>
            <a:off x="6985000" y="22098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變更事項：高風險</a:t>
            </a:r>
            <a:endParaRPr lang="zh-TW" sz="1150"/>
          </a:p>
        </p:txBody>
      </p:sp>
      <p:sp>
        <p:nvSpPr>
          <p:cNvPr id="16" name="TextBox 16"/>
          <p:cNvSpPr txBox="1"/>
          <p:nvPr/>
        </p:nvSpPr>
        <p:spPr>
          <a:xfrm>
            <a:off x="6985000" y="25146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缺失修補：高風險</a:t>
            </a:r>
            <a:endParaRPr lang="zh-TW" sz="1150"/>
          </a:p>
        </p:txBody>
      </p:sp>
      <p:sp>
        <p:nvSpPr>
          <p:cNvPr id="17" name="TextBox 17"/>
          <p:cNvSpPr txBox="1"/>
          <p:nvPr/>
        </p:nvSpPr>
        <p:spPr>
          <a:xfrm>
            <a:off x="6985000" y="28194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150">
                <a:solidFill>
                  <a:srgbClr val="334155"/>
                </a:solidFill>
                <a:latin typeface="Microsoft JhengHei"/>
                <a:ea typeface="Microsoft JhengHei"/>
              </a:rPr>
              <a:t>• 尾款 / 發票：高風險</a:t>
            </a:r>
            <a:endParaRPr lang="zh-TW" sz="1150"/>
          </a:p>
        </p:txBody>
      </p:sp>
      <p:sp>
        <p:nvSpPr>
          <p:cNvPr id="18" name="Shape 18"/>
          <p:cNvSpPr/>
          <p:nvPr/>
        </p:nvSpPr>
        <p:spPr>
          <a:xfrm>
            <a:off x="1270000" y="3911600"/>
            <a:ext cx="29210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270000" y="3911600"/>
            <a:ext cx="76200" cy="1549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498600" y="41148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員工處理</a:t>
            </a:r>
            <a:endParaRPr lang="zh-TW" sz="1400"/>
          </a:p>
        </p:txBody>
      </p:sp>
      <p:sp>
        <p:nvSpPr>
          <p:cNvPr id="21" name="TextBox 21"/>
          <p:cNvSpPr txBox="1"/>
          <p:nvPr/>
        </p:nvSpPr>
        <p:spPr>
          <a:xfrm>
            <a:off x="1498600" y="4495800"/>
            <a:ext cx="2514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確認是否正確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補上負責人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設定截止日期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核准成正式待辦</a:t>
            </a:r>
            <a:endParaRPr lang="zh-TW" sz="1050"/>
          </a:p>
        </p:txBody>
      </p:sp>
      <p:sp>
        <p:nvSpPr>
          <p:cNvPr id="22" name="Shape 22"/>
          <p:cNvSpPr/>
          <p:nvPr/>
        </p:nvSpPr>
        <p:spPr>
          <a:xfrm>
            <a:off x="4648200" y="3911600"/>
            <a:ext cx="29210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3" name="Shape 23"/>
          <p:cNvSpPr/>
          <p:nvPr/>
        </p:nvSpPr>
        <p:spPr>
          <a:xfrm>
            <a:off x="4648200" y="3911600"/>
            <a:ext cx="76200" cy="15494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876800" y="41148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系統追蹤</a:t>
            </a:r>
            <a:endParaRPr lang="zh-TW" sz="1400"/>
          </a:p>
        </p:txBody>
      </p:sp>
      <p:sp>
        <p:nvSpPr>
          <p:cNvPr id="25" name="TextBox 25"/>
          <p:cNvSpPr txBox="1"/>
          <p:nvPr/>
        </p:nvSpPr>
        <p:spPr>
          <a:xfrm>
            <a:off x="4876800" y="4495800"/>
            <a:ext cx="2514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進入今日風險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未完成就提醒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逾期會提高可見度</a:t>
            </a:r>
            <a:endParaRPr lang="zh-TW" sz="1050"/>
          </a:p>
        </p:txBody>
      </p:sp>
      <p:sp>
        <p:nvSpPr>
          <p:cNvPr id="26" name="Shape 26"/>
          <p:cNvSpPr/>
          <p:nvPr/>
        </p:nvSpPr>
        <p:spPr>
          <a:xfrm>
            <a:off x="8026400" y="3911600"/>
            <a:ext cx="29210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Shape 27"/>
          <p:cNvSpPr/>
          <p:nvPr/>
        </p:nvSpPr>
        <p:spPr>
          <a:xfrm>
            <a:off x="8026400" y="3911600"/>
            <a:ext cx="76200" cy="15494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255000" y="41148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管理價值</a:t>
            </a:r>
            <a:endParaRPr lang="zh-TW" sz="1400"/>
          </a:p>
        </p:txBody>
      </p:sp>
      <p:sp>
        <p:nvSpPr>
          <p:cNvPr id="29" name="TextBox 29"/>
          <p:cNvSpPr txBox="1"/>
          <p:nvPr/>
        </p:nvSpPr>
        <p:spPr>
          <a:xfrm>
            <a:off x="8255000" y="4495800"/>
            <a:ext cx="2514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主管不需要翻完整 LINE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也能掌握最危險的事項。</a:t>
            </a:r>
            <a:endParaRPr lang="zh-TW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Solution Result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解決方式整理：以前 vs 現在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重點是讓工作從『靠記憶』變成『有系統追蹤』。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12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914400" y="1574800"/>
            <a:ext cx="31750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16000" y="1676400"/>
            <a:ext cx="2971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以前的狀況</a:t>
            </a:r>
            <a:endParaRPr lang="zh-TW" sz="950"/>
          </a:p>
        </p:txBody>
      </p:sp>
      <p:sp>
        <p:nvSpPr>
          <p:cNvPr id="11" name="Shape 11"/>
          <p:cNvSpPr/>
          <p:nvPr/>
        </p:nvSpPr>
        <p:spPr>
          <a:xfrm>
            <a:off x="4089400" y="1574800"/>
            <a:ext cx="38100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191000" y="1676400"/>
            <a:ext cx="3606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系統解決方式</a:t>
            </a:r>
            <a:endParaRPr lang="zh-TW" sz="950"/>
          </a:p>
        </p:txBody>
      </p:sp>
      <p:sp>
        <p:nvSpPr>
          <p:cNvPr id="13" name="Shape 13"/>
          <p:cNvSpPr/>
          <p:nvPr/>
        </p:nvSpPr>
        <p:spPr>
          <a:xfrm>
            <a:off x="7899400" y="1574800"/>
            <a:ext cx="3378200" cy="482600"/>
          </a:xfrm>
          <a:prstGeom prst="rect">
            <a:avLst/>
          </a:prstGeom>
          <a:solidFill>
            <a:srgbClr val="0F766E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001000" y="1676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 b="1">
                <a:solidFill>
                  <a:srgbClr val="FFFFFF"/>
                </a:solidFill>
                <a:latin typeface="Microsoft JhengHei"/>
                <a:ea typeface="Microsoft JhengHei"/>
              </a:rPr>
              <a:t>改善效果</a:t>
            </a:r>
            <a:endParaRPr lang="zh-TW" sz="950"/>
          </a:p>
        </p:txBody>
      </p:sp>
      <p:sp>
        <p:nvSpPr>
          <p:cNvPr id="15" name="Shape 15"/>
          <p:cNvSpPr/>
          <p:nvPr/>
        </p:nvSpPr>
        <p:spPr>
          <a:xfrm>
            <a:off x="914400" y="2057400"/>
            <a:ext cx="317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16000" y="2159000"/>
            <a:ext cx="2971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LINE 訊息看過就忘</a:t>
            </a:r>
            <a:endParaRPr lang="zh-TW" sz="950"/>
          </a:p>
        </p:txBody>
      </p:sp>
      <p:sp>
        <p:nvSpPr>
          <p:cNvPr id="17" name="Shape 17"/>
          <p:cNvSpPr/>
          <p:nvPr/>
        </p:nvSpPr>
        <p:spPr>
          <a:xfrm>
            <a:off x="4089400" y="2057400"/>
            <a:ext cx="3810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191000" y="21590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AI 抓承諾、變更、收款、發票</a:t>
            </a:r>
            <a:endParaRPr lang="zh-TW" sz="950"/>
          </a:p>
        </p:txBody>
      </p:sp>
      <p:sp>
        <p:nvSpPr>
          <p:cNvPr id="19" name="Shape 19"/>
          <p:cNvSpPr/>
          <p:nvPr/>
        </p:nvSpPr>
        <p:spPr>
          <a:xfrm>
            <a:off x="7899400" y="2057400"/>
            <a:ext cx="33782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001000" y="21590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訊息變成待審草稿</a:t>
            </a:r>
            <a:endParaRPr lang="zh-TW" sz="950"/>
          </a:p>
        </p:txBody>
      </p:sp>
      <p:sp>
        <p:nvSpPr>
          <p:cNvPr id="21" name="Shape 21"/>
          <p:cNvSpPr/>
          <p:nvPr/>
        </p:nvSpPr>
        <p:spPr>
          <a:xfrm>
            <a:off x="914400" y="2717800"/>
            <a:ext cx="31750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16000" y="2819400"/>
            <a:ext cx="2971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工期靠人工追問</a:t>
            </a:r>
            <a:endParaRPr lang="zh-TW" sz="950"/>
          </a:p>
        </p:txBody>
      </p:sp>
      <p:sp>
        <p:nvSpPr>
          <p:cNvPr id="23" name="Shape 23"/>
          <p:cNvSpPr/>
          <p:nvPr/>
        </p:nvSpPr>
        <p:spPr>
          <a:xfrm>
            <a:off x="4089400" y="2717800"/>
            <a:ext cx="38100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191000" y="28194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建立工期節點與關鍵里程碑</a:t>
            </a:r>
            <a:endParaRPr lang="zh-TW" sz="950"/>
          </a:p>
        </p:txBody>
      </p:sp>
      <p:sp>
        <p:nvSpPr>
          <p:cNvPr id="25" name="Shape 25"/>
          <p:cNvSpPr/>
          <p:nvPr/>
        </p:nvSpPr>
        <p:spPr>
          <a:xfrm>
            <a:off x="7899400" y="2717800"/>
            <a:ext cx="33782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001000" y="28194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每天提醒進場與逾期</a:t>
            </a:r>
            <a:endParaRPr lang="zh-TW" sz="950"/>
          </a:p>
        </p:txBody>
      </p:sp>
      <p:sp>
        <p:nvSpPr>
          <p:cNvPr id="27" name="Shape 27"/>
          <p:cNvSpPr/>
          <p:nvPr/>
        </p:nvSpPr>
        <p:spPr>
          <a:xfrm>
            <a:off x="914400" y="3378200"/>
            <a:ext cx="3175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16000" y="3479800"/>
            <a:ext cx="2971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客訴缺失分散</a:t>
            </a:r>
            <a:endParaRPr lang="zh-TW" sz="950"/>
          </a:p>
        </p:txBody>
      </p:sp>
      <p:sp>
        <p:nvSpPr>
          <p:cNvPr id="29" name="Shape 29"/>
          <p:cNvSpPr/>
          <p:nvPr/>
        </p:nvSpPr>
        <p:spPr>
          <a:xfrm>
            <a:off x="4089400" y="3378200"/>
            <a:ext cx="38100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91000" y="34798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客訴 / 修補關鍵字自動高風險</a:t>
            </a:r>
            <a:endParaRPr lang="zh-TW" sz="950"/>
          </a:p>
        </p:txBody>
      </p:sp>
      <p:sp>
        <p:nvSpPr>
          <p:cNvPr id="31" name="Shape 31"/>
          <p:cNvSpPr/>
          <p:nvPr/>
        </p:nvSpPr>
        <p:spPr>
          <a:xfrm>
            <a:off x="7899400" y="3378200"/>
            <a:ext cx="3378200" cy="66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001000" y="34798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先處理最危險事項</a:t>
            </a:r>
            <a:endParaRPr lang="zh-TW" sz="950"/>
          </a:p>
        </p:txBody>
      </p:sp>
      <p:sp>
        <p:nvSpPr>
          <p:cNvPr id="33" name="Shape 33"/>
          <p:cNvSpPr/>
          <p:nvPr/>
        </p:nvSpPr>
        <p:spPr>
          <a:xfrm>
            <a:off x="914400" y="4038600"/>
            <a:ext cx="31750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016000" y="4140200"/>
            <a:ext cx="2971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主管難掌握多案件</a:t>
            </a:r>
            <a:endParaRPr lang="zh-TW" sz="950"/>
          </a:p>
        </p:txBody>
      </p:sp>
      <p:sp>
        <p:nvSpPr>
          <p:cNvPr id="35" name="Shape 35"/>
          <p:cNvSpPr/>
          <p:nvPr/>
        </p:nvSpPr>
        <p:spPr>
          <a:xfrm>
            <a:off x="4089400" y="4038600"/>
            <a:ext cx="38100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191000" y="41402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今日風險中心集中顯示</a:t>
            </a:r>
            <a:endParaRPr lang="zh-TW" sz="950"/>
          </a:p>
        </p:txBody>
      </p:sp>
      <p:sp>
        <p:nvSpPr>
          <p:cNvPr id="37" name="Shape 37"/>
          <p:cNvSpPr/>
          <p:nvPr/>
        </p:nvSpPr>
        <p:spPr>
          <a:xfrm>
            <a:off x="7899400" y="4038600"/>
            <a:ext cx="3378200" cy="660400"/>
          </a:xfrm>
          <a:prstGeom prst="rect">
            <a:avLst/>
          </a:prstGeom>
          <a:solidFill>
            <a:srgbClr val="F5F5F4"/>
          </a:solidFill>
          <a:ln w="9525">
            <a:solidFill>
              <a:srgbClr val="E5E7E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001000" y="4140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50">
                <a:solidFill>
                  <a:srgbClr val="334155"/>
                </a:solidFill>
                <a:latin typeface="Microsoft JhengHei"/>
                <a:ea typeface="Microsoft JhengHei"/>
              </a:rPr>
              <a:t>快速知道哪個案件要介入</a:t>
            </a:r>
            <a:endParaRPr lang="zh-TW" sz="950"/>
          </a:p>
        </p:txBody>
      </p:sp>
      <p:sp>
        <p:nvSpPr>
          <p:cNvPr id="39" name="Shape 39"/>
          <p:cNvSpPr/>
          <p:nvPr/>
        </p:nvSpPr>
        <p:spPr>
          <a:xfrm>
            <a:off x="1498600" y="5486400"/>
            <a:ext cx="9194800" cy="53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0" name="Shape 40"/>
          <p:cNvSpPr/>
          <p:nvPr/>
        </p:nvSpPr>
        <p:spPr>
          <a:xfrm>
            <a:off x="1498600" y="5486400"/>
            <a:ext cx="76200" cy="5334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727200" y="5689600"/>
            <a:ext cx="8813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一句話總結</a:t>
            </a:r>
            <a:endParaRPr lang="zh-TW" sz="1400"/>
          </a:p>
        </p:txBody>
      </p:sp>
      <p:sp>
        <p:nvSpPr>
          <p:cNvPr id="42" name="TextBox 42"/>
          <p:cNvSpPr txBox="1"/>
          <p:nvPr/>
        </p:nvSpPr>
        <p:spPr>
          <a:xfrm>
            <a:off x="1727200" y="6070600"/>
            <a:ext cx="8788400" cy="-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AI 把原本散在對話裡的風險，轉成可以審核、可以指派、可以提醒的工作。</a:t>
            </a:r>
            <a:endParaRPr lang="zh-TW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Evaluation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是否有解決問題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結論：有改善，但不是完全取代人。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13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1041400" y="1651000"/>
            <a:ext cx="4699000" cy="311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Shape 10"/>
          <p:cNvSpPr/>
          <p:nvPr/>
        </p:nvSpPr>
        <p:spPr>
          <a:xfrm>
            <a:off x="1041400" y="1651000"/>
            <a:ext cx="76200" cy="31115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0000" y="1854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已解決 / 明顯改善</a:t>
            </a:r>
            <a:endParaRPr lang="zh-TW" sz="1400"/>
          </a:p>
        </p:txBody>
      </p:sp>
      <p:sp>
        <p:nvSpPr>
          <p:cNvPr id="12" name="TextBox 12"/>
          <p:cNvSpPr txBox="1"/>
          <p:nvPr/>
        </p:nvSpPr>
        <p:spPr>
          <a:xfrm>
            <a:off x="1270000" y="2235200"/>
            <a:ext cx="4292600" cy="237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高風險項目更容易被看見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LINE 對話可以轉成待辦草稿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工期、里程碑與逾期可以集中提醒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老闆或主管可以快速掌握多案件狀態</a:t>
            </a:r>
            <a:endParaRPr lang="zh-TW" sz="1050"/>
          </a:p>
        </p:txBody>
      </p:sp>
      <p:sp>
        <p:nvSpPr>
          <p:cNvPr id="13" name="Shape 13"/>
          <p:cNvSpPr/>
          <p:nvPr/>
        </p:nvSpPr>
        <p:spPr>
          <a:xfrm>
            <a:off x="6451600" y="1651000"/>
            <a:ext cx="4699000" cy="3111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451600" y="1651000"/>
            <a:ext cx="76200" cy="3111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80200" y="18542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400" b="1">
                <a:solidFill>
                  <a:srgbClr val="172033"/>
                </a:solidFill>
                <a:latin typeface="Microsoft JhengHei"/>
                <a:ea typeface="Microsoft JhengHei"/>
              </a:rPr>
              <a:t>尚未完全解決</a:t>
            </a:r>
            <a:endParaRPr lang="zh-TW" sz="1400"/>
          </a:p>
        </p:txBody>
      </p:sp>
      <p:sp>
        <p:nvSpPr>
          <p:cNvPr id="16" name="TextBox 16"/>
          <p:cNvSpPr txBox="1"/>
          <p:nvPr/>
        </p:nvSpPr>
        <p:spPr>
          <a:xfrm>
            <a:off x="6680200" y="2235200"/>
            <a:ext cx="4292600" cy="237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AI 仍可能誤判，需要人工審核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資料要完整輸入，提醒才準確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圖片內文字目前還不能自動辨識</a:t>
            </a:r>
            <a:endParaRPr lang="zh-TW" sz="1050"/>
          </a:p>
          <a:p>
            <a:pPr algn="l"/>
            <a:r>
              <a:rPr lang="zh-TW" sz="1050">
                <a:solidFill>
                  <a:srgbClr val="334155"/>
                </a:solidFill>
                <a:latin typeface="Microsoft JhengHei"/>
                <a:ea typeface="Microsoft JhengHei"/>
              </a:rPr>
              <a:t>• 風險規則需要持續依公司用語調整</a:t>
            </a:r>
            <a:endParaRPr lang="zh-TW" sz="1050"/>
          </a:p>
        </p:txBody>
      </p:sp>
      <p:sp>
        <p:nvSpPr>
          <p:cNvPr id="17" name="Shape 17"/>
          <p:cNvSpPr/>
          <p:nvPr/>
        </p:nvSpPr>
        <p:spPr>
          <a:xfrm>
            <a:off x="2082800" y="5207000"/>
            <a:ext cx="8026400" cy="6350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387600" y="5384800"/>
            <a:ext cx="741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50" b="1">
                <a:solidFill>
                  <a:srgbClr val="172033"/>
                </a:solidFill>
                <a:latin typeface="Microsoft JhengHei"/>
                <a:ea typeface="Microsoft JhengHei"/>
              </a:rPr>
              <a:t>我的結論：這套系統有解決「看不見、忘記追、太晚發現」的問題；但 AI 最適合當助理，不適合完全取代人的判斷。</a:t>
            </a:r>
            <a:endParaRPr lang="zh-TW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Reflection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使用心得與未來改善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做完後，我更理解 AI 要放在流程裡才真正有用。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14</a:t>
            </a:r>
            <a:endParaRPr lang="zh-TW" sz="850"/>
          </a:p>
        </p:txBody>
      </p:sp>
      <p:sp>
        <p:nvSpPr>
          <p:cNvPr id="9" name="TextBox 9"/>
          <p:cNvSpPr txBox="1"/>
          <p:nvPr/>
        </p:nvSpPr>
        <p:spPr>
          <a:xfrm>
            <a:off x="914400" y="1549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800" b="1">
                <a:solidFill>
                  <a:srgbClr val="172033"/>
                </a:solidFill>
                <a:latin typeface="Microsoft JhengHei"/>
                <a:ea typeface="Microsoft JhengHei"/>
              </a:rPr>
              <a:t>使用心得</a:t>
            </a:r>
            <a:endParaRPr lang="zh-TW" sz="1800"/>
          </a:p>
        </p:txBody>
      </p:sp>
      <p:sp>
        <p:nvSpPr>
          <p:cNvPr id="10" name="TextBox 10"/>
          <p:cNvSpPr txBox="1"/>
          <p:nvPr/>
        </p:nvSpPr>
        <p:spPr>
          <a:xfrm>
            <a:off x="1066800" y="2082800"/>
            <a:ext cx="1003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AI 的價值不只在回答問題，而是幫公司整理資訊、分類風險、提醒人去處理</a:t>
            </a:r>
            <a:endParaRPr lang="zh-TW" sz="1250"/>
          </a:p>
        </p:txBody>
      </p:sp>
      <p:sp>
        <p:nvSpPr>
          <p:cNvPr id="11" name="TextBox 11"/>
          <p:cNvSpPr txBox="1"/>
          <p:nvPr/>
        </p:nvSpPr>
        <p:spPr>
          <a:xfrm>
            <a:off x="1066800" y="2463800"/>
            <a:ext cx="1003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真正困難的是把 LINE 這種口語對話，轉成資料庫裡可追蹤的待辦</a:t>
            </a:r>
            <a:endParaRPr lang="zh-TW" sz="1250"/>
          </a:p>
        </p:txBody>
      </p:sp>
      <p:sp>
        <p:nvSpPr>
          <p:cNvPr id="12" name="TextBox 12"/>
          <p:cNvSpPr txBox="1"/>
          <p:nvPr/>
        </p:nvSpPr>
        <p:spPr>
          <a:xfrm>
            <a:off x="1066800" y="2844800"/>
            <a:ext cx="1003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風險規則必須符合公司的實際語言，例如客訴、修補、尾款、發票、工期</a:t>
            </a:r>
            <a:endParaRPr lang="zh-TW" sz="1250"/>
          </a:p>
        </p:txBody>
      </p:sp>
      <p:sp>
        <p:nvSpPr>
          <p:cNvPr id="13" name="TextBox 13"/>
          <p:cNvSpPr txBox="1"/>
          <p:nvPr/>
        </p:nvSpPr>
        <p:spPr>
          <a:xfrm>
            <a:off x="1066800" y="3225800"/>
            <a:ext cx="10033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50">
                <a:solidFill>
                  <a:srgbClr val="334155"/>
                </a:solidFill>
                <a:latin typeface="Microsoft JhengHei"/>
                <a:ea typeface="Microsoft JhengHei"/>
              </a:rPr>
              <a:t>• 人機協作比全自動更可靠：AI 先找，人最後確認</a:t>
            </a:r>
            <a:endParaRPr lang="zh-TW" sz="1250"/>
          </a:p>
        </p:txBody>
      </p:sp>
      <p:sp>
        <p:nvSpPr>
          <p:cNvPr id="14" name="TextBox 14"/>
          <p:cNvSpPr txBox="1"/>
          <p:nvPr/>
        </p:nvSpPr>
        <p:spPr>
          <a:xfrm>
            <a:off x="914400" y="42418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800" b="1">
                <a:solidFill>
                  <a:srgbClr val="172033"/>
                </a:solidFill>
                <a:latin typeface="Microsoft JhengHei"/>
                <a:ea typeface="Microsoft JhengHei"/>
              </a:rPr>
              <a:t>未來改善</a:t>
            </a:r>
            <a:endParaRPr lang="zh-TW" sz="1800"/>
          </a:p>
        </p:txBody>
      </p:sp>
      <p:sp>
        <p:nvSpPr>
          <p:cNvPr id="15" name="TextBox 15"/>
          <p:cNvSpPr txBox="1"/>
          <p:nvPr/>
        </p:nvSpPr>
        <p:spPr>
          <a:xfrm>
            <a:off x="1066800" y="4749800"/>
            <a:ext cx="1003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00">
                <a:solidFill>
                  <a:srgbClr val="334155"/>
                </a:solidFill>
                <a:latin typeface="Microsoft JhengHei"/>
                <a:ea typeface="Microsoft JhengHei"/>
              </a:rPr>
              <a:t>• 加入圖片 OCR，讓照片上的缺失文字也能被辨識</a:t>
            </a:r>
            <a:endParaRPr lang="zh-TW" sz="1200"/>
          </a:p>
        </p:txBody>
      </p:sp>
      <p:sp>
        <p:nvSpPr>
          <p:cNvPr id="16" name="TextBox 16"/>
          <p:cNvSpPr txBox="1"/>
          <p:nvPr/>
        </p:nvSpPr>
        <p:spPr>
          <a:xfrm>
            <a:off x="1066800" y="5080000"/>
            <a:ext cx="1003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00">
                <a:solidFill>
                  <a:srgbClr val="334155"/>
                </a:solidFill>
                <a:latin typeface="Microsoft JhengHei"/>
                <a:ea typeface="Microsoft JhengHei"/>
              </a:rPr>
              <a:t>• 加入更細的風險分數，例如金額、延誤天數、客戶情緒</a:t>
            </a:r>
            <a:endParaRPr lang="zh-TW" sz="1200"/>
          </a:p>
        </p:txBody>
      </p:sp>
      <p:sp>
        <p:nvSpPr>
          <p:cNvPr id="17" name="TextBox 17"/>
          <p:cNvSpPr txBox="1"/>
          <p:nvPr/>
        </p:nvSpPr>
        <p:spPr>
          <a:xfrm>
            <a:off x="1066800" y="5410200"/>
            <a:ext cx="1003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00">
                <a:solidFill>
                  <a:srgbClr val="334155"/>
                </a:solidFill>
                <a:latin typeface="Microsoft JhengHei"/>
                <a:ea typeface="Microsoft JhengHei"/>
              </a:rPr>
              <a:t>• 強化手機版審核流程，讓現場工務更方便使用</a:t>
            </a:r>
            <a:endParaRPr lang="zh-TW" sz="1200"/>
          </a:p>
        </p:txBody>
      </p:sp>
      <p:sp>
        <p:nvSpPr>
          <p:cNvPr id="18" name="TextBox 18"/>
          <p:cNvSpPr txBox="1"/>
          <p:nvPr/>
        </p:nvSpPr>
        <p:spPr>
          <a:xfrm>
            <a:off x="1066800" y="5740400"/>
            <a:ext cx="1003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200">
                <a:solidFill>
                  <a:srgbClr val="334155"/>
                </a:solidFill>
                <a:latin typeface="Microsoft JhengHei"/>
                <a:ea typeface="Microsoft JhengHei"/>
              </a:rPr>
              <a:t>• 交屋前自動產生驗收清單與未完成事項報表</a:t>
            </a:r>
            <a:endParaRPr lang="zh-TW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/>
          <p:nvPr/>
        </p:nvSpPr>
        <p:spPr>
          <a:xfrm>
            <a:off x="457200" y="419100"/>
            <a:ext cx="101600" cy="5842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36600" y="381000"/>
            <a:ext cx="1041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900" b="1">
                <a:solidFill>
                  <a:srgbClr val="0F766E"/>
                </a:solidFill>
                <a:latin typeface="Microsoft JhengHei"/>
                <a:ea typeface="Microsoft JhengHei"/>
              </a:rPr>
              <a:t>Q&amp;A</a:t>
            </a:r>
            <a:endParaRPr lang="zh-TW" sz="900"/>
          </a:p>
        </p:txBody>
      </p:sp>
      <p:sp>
        <p:nvSpPr>
          <p:cNvPr id="4" name="TextBox 4"/>
          <p:cNvSpPr txBox="1"/>
          <p:nvPr/>
        </p:nvSpPr>
        <p:spPr>
          <a:xfrm>
            <a:off x="736600" y="609600"/>
            <a:ext cx="1054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2400" b="1">
                <a:solidFill>
                  <a:srgbClr val="172033"/>
                </a:solidFill>
                <a:latin typeface="Microsoft JhengHei"/>
                <a:ea typeface="Microsoft JhengHei"/>
              </a:rPr>
              <a:t>Q&amp;A</a:t>
            </a:r>
            <a:endParaRPr lang="zh-TW" sz="2400"/>
          </a:p>
        </p:txBody>
      </p:sp>
      <p:sp>
        <p:nvSpPr>
          <p:cNvPr id="5" name="TextBox 5"/>
          <p:cNvSpPr txBox="1"/>
          <p:nvPr/>
        </p:nvSpPr>
        <p:spPr>
          <a:xfrm>
            <a:off x="736600" y="10414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1050">
                <a:solidFill>
                  <a:srgbClr val="64748B"/>
                </a:solidFill>
                <a:latin typeface="Microsoft JhengHei"/>
                <a:ea typeface="Microsoft JhengHei"/>
              </a:rPr>
              <a:t>謝謝聆聽</a:t>
            </a:r>
            <a:endParaRPr lang="zh-TW" sz="1050"/>
          </a:p>
        </p:txBody>
      </p:sp>
      <p:sp>
        <p:nvSpPr>
          <p:cNvPr id="6" name="Shape 6"/>
          <p:cNvSpPr/>
          <p:nvPr/>
        </p:nvSpPr>
        <p:spPr>
          <a:xfrm>
            <a:off x="736600" y="6426200"/>
            <a:ext cx="107188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36600" y="65024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AI風險控管｜AI案件秘書</a:t>
            </a:r>
            <a:endParaRPr lang="zh-TW" sz="850"/>
          </a:p>
        </p:txBody>
      </p:sp>
      <p:sp>
        <p:nvSpPr>
          <p:cNvPr id="8" name="TextBox 8"/>
          <p:cNvSpPr txBox="1"/>
          <p:nvPr/>
        </p:nvSpPr>
        <p:spPr>
          <a:xfrm>
            <a:off x="10795000" y="6502400"/>
            <a:ext cx="685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zh-TW" sz="850">
                <a:solidFill>
                  <a:srgbClr val="64748B"/>
                </a:solidFill>
                <a:latin typeface="Microsoft JhengHei"/>
                <a:ea typeface="Microsoft JhengHei"/>
              </a:rPr>
              <a:t>15</a:t>
            </a:r>
            <a:endParaRPr lang="zh-TW" sz="850"/>
          </a:p>
        </p:txBody>
      </p:sp>
      <p:sp>
        <p:nvSpPr>
          <p:cNvPr id="9" name="Shape 9"/>
          <p:cNvSpPr/>
          <p:nvPr/>
        </p:nvSpPr>
        <p:spPr>
          <a:xfrm>
            <a:off x="2463800" y="1854200"/>
            <a:ext cx="7264400" cy="2794000"/>
          </a:xfrm>
          <a:prstGeom prst="roundRect">
            <a:avLst/>
          </a:prstGeom>
          <a:solidFill>
            <a:srgbClr val="DDF7F3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175000" y="24130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2800" b="1">
                <a:solidFill>
                  <a:srgbClr val="0F766E"/>
                </a:solidFill>
                <a:latin typeface="Microsoft JhengHei"/>
                <a:ea typeface="Microsoft JhengHei"/>
              </a:rPr>
              <a:t>AI案件秘書</a:t>
            </a:r>
            <a:endParaRPr lang="zh-TW" sz="2800"/>
          </a:p>
        </p:txBody>
      </p:sp>
      <p:sp>
        <p:nvSpPr>
          <p:cNvPr id="11" name="TextBox 11"/>
          <p:cNvSpPr txBox="1"/>
          <p:nvPr/>
        </p:nvSpPr>
        <p:spPr>
          <a:xfrm>
            <a:off x="3175000" y="3149600"/>
            <a:ext cx="584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800" b="1">
                <a:solidFill>
                  <a:srgbClr val="172033"/>
                </a:solidFill>
                <a:latin typeface="Microsoft JhengHei"/>
                <a:ea typeface="Microsoft JhengHei"/>
              </a:rPr>
              <a:t>從接案到交屋，讓風險更早被看見。</a:t>
            </a:r>
            <a:endParaRPr lang="zh-TW" sz="1800"/>
          </a:p>
        </p:txBody>
      </p:sp>
      <p:sp>
        <p:nvSpPr>
          <p:cNvPr id="12" name="TextBox 12"/>
          <p:cNvSpPr txBox="1"/>
          <p:nvPr/>
        </p:nvSpPr>
        <p:spPr>
          <a:xfrm>
            <a:off x="3175000" y="3835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zh-TW" sz="1200">
                <a:solidFill>
                  <a:srgbClr val="334155"/>
                </a:solidFill>
                <a:latin typeface="Microsoft JhengHei"/>
                <a:ea typeface="Microsoft JhengHei"/>
              </a:rPr>
              <a:t>可展示頁面：今日風險中心、待辦審核、案件工程進度、LINE 後台提醒。</a:t>
            </a:r>
            <a:endParaRPr lang="zh-TW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Risk Theme">
  <a:themeElements>
    <a:clrScheme name="AI Risk">
      <a:dk1>
        <a:srgbClr val="172033"/>
      </a:dk1>
      <a:lt1>
        <a:srgbClr val="FFFFFF"/>
      </a:lt1>
      <a:dk2>
        <a:srgbClr val="334155"/>
      </a:dk2>
      <a:lt2>
        <a:srgbClr val="F8FAF7"/>
      </a:lt2>
      <a:accent1>
        <a:srgbClr val="0F766E"/>
      </a:accent1>
      <a:accent2>
        <a:srgbClr val="D97706"/>
      </a:accent2>
      <a:accent3>
        <a:srgbClr val="DC2626"/>
      </a:accent3>
      <a:accent4>
        <a:srgbClr val="64748B"/>
      </a:accent4>
      <a:accent5>
        <a:srgbClr val="DDF7F3"/>
      </a:accent5>
      <a:accent6>
        <a:srgbClr val="FEE2E2"/>
      </a:accent6>
      <a:hlink>
        <a:srgbClr val="0F766E"/>
      </a:hlink>
      <a:folHlink>
        <a:srgbClr val="D97706"/>
      </a:folHlink>
    </a:clrScheme>
    <a:fontScheme name="AI Risk Fonts">
      <a:majorFont>
        <a:latin typeface="Microsoft JhengHei"/>
        <a:ea typeface="Microsoft JhengHei"/>
        <a:cs typeface="Microsoft JhengHei"/>
      </a:majorFont>
      <a:minorFont>
        <a:latin typeface="Microsoft JhengHei"/>
        <a:ea typeface="Microsoft JhengHei"/>
        <a:cs typeface="Microsoft JhengHei"/>
      </a:minorFont>
    </a:fontScheme>
    <a:fmtScheme name="AI Risk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AI風險控管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AI風險控管：AI案件秘書</dc:title>
  <dc:subject>期末報告</dc:subject>
  <dc:creator>Codex</dc:creator>
  <cp:lastModifiedBy>Codex</cp:lastModifiedBy>
  <dcterms:created xsi:type="dcterms:W3CDTF">2026-06-26T09:27:24Z</dcterms:created>
  <dcterms:modified xsi:type="dcterms:W3CDTF">2026-06-26T09:27:24Z</dcterms:modified>
</cp:coreProperties>
</file>